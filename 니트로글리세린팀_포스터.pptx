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69" r:id="rId2"/>
  </p:sldIdLst>
  <p:sldSz cx="21383625" cy="30275213"/>
  <p:notesSz cx="6858000" cy="9144000"/>
  <p:defaultTextStyle>
    <a:defPPr>
      <a:defRPr lang="ko-KR"/>
    </a:defPPr>
    <a:lvl1pPr marL="0" algn="l" defTabSz="2950016" rtl="0" eaLnBrk="1" latinLnBrk="1" hangingPunct="1">
      <a:defRPr sz="5792" kern="1200">
        <a:solidFill>
          <a:schemeClr val="tx1"/>
        </a:solidFill>
        <a:latin typeface="+mn-lt"/>
        <a:ea typeface="+mn-ea"/>
        <a:cs typeface="+mn-cs"/>
      </a:defRPr>
    </a:lvl1pPr>
    <a:lvl2pPr marL="1475007" algn="l" defTabSz="2950016" rtl="0" eaLnBrk="1" latinLnBrk="1" hangingPunct="1">
      <a:defRPr sz="5792" kern="1200">
        <a:solidFill>
          <a:schemeClr val="tx1"/>
        </a:solidFill>
        <a:latin typeface="+mn-lt"/>
        <a:ea typeface="+mn-ea"/>
        <a:cs typeface="+mn-cs"/>
      </a:defRPr>
    </a:lvl2pPr>
    <a:lvl3pPr marL="2950016" algn="l" defTabSz="2950016" rtl="0" eaLnBrk="1" latinLnBrk="1" hangingPunct="1">
      <a:defRPr sz="5792" kern="1200">
        <a:solidFill>
          <a:schemeClr val="tx1"/>
        </a:solidFill>
        <a:latin typeface="+mn-lt"/>
        <a:ea typeface="+mn-ea"/>
        <a:cs typeface="+mn-cs"/>
      </a:defRPr>
    </a:lvl3pPr>
    <a:lvl4pPr marL="4425022" algn="l" defTabSz="2950016" rtl="0" eaLnBrk="1" latinLnBrk="1" hangingPunct="1">
      <a:defRPr sz="5792" kern="1200">
        <a:solidFill>
          <a:schemeClr val="tx1"/>
        </a:solidFill>
        <a:latin typeface="+mn-lt"/>
        <a:ea typeface="+mn-ea"/>
        <a:cs typeface="+mn-cs"/>
      </a:defRPr>
    </a:lvl4pPr>
    <a:lvl5pPr marL="5900029" algn="l" defTabSz="2950016" rtl="0" eaLnBrk="1" latinLnBrk="1" hangingPunct="1">
      <a:defRPr sz="5792" kern="1200">
        <a:solidFill>
          <a:schemeClr val="tx1"/>
        </a:solidFill>
        <a:latin typeface="+mn-lt"/>
        <a:ea typeface="+mn-ea"/>
        <a:cs typeface="+mn-cs"/>
      </a:defRPr>
    </a:lvl5pPr>
    <a:lvl6pPr marL="7375035" algn="l" defTabSz="2950016" rtl="0" eaLnBrk="1" latinLnBrk="1" hangingPunct="1">
      <a:defRPr sz="5792" kern="1200">
        <a:solidFill>
          <a:schemeClr val="tx1"/>
        </a:solidFill>
        <a:latin typeface="+mn-lt"/>
        <a:ea typeface="+mn-ea"/>
        <a:cs typeface="+mn-cs"/>
      </a:defRPr>
    </a:lvl6pPr>
    <a:lvl7pPr marL="8850044" algn="l" defTabSz="2950016" rtl="0" eaLnBrk="1" latinLnBrk="1" hangingPunct="1">
      <a:defRPr sz="5792" kern="1200">
        <a:solidFill>
          <a:schemeClr val="tx1"/>
        </a:solidFill>
        <a:latin typeface="+mn-lt"/>
        <a:ea typeface="+mn-ea"/>
        <a:cs typeface="+mn-cs"/>
      </a:defRPr>
    </a:lvl7pPr>
    <a:lvl8pPr marL="10325052" algn="l" defTabSz="2950016" rtl="0" eaLnBrk="1" latinLnBrk="1" hangingPunct="1">
      <a:defRPr sz="5792" kern="1200">
        <a:solidFill>
          <a:schemeClr val="tx1"/>
        </a:solidFill>
        <a:latin typeface="+mn-lt"/>
        <a:ea typeface="+mn-ea"/>
        <a:cs typeface="+mn-cs"/>
      </a:defRPr>
    </a:lvl8pPr>
    <a:lvl9pPr marL="11800059" algn="l" defTabSz="2950016" rtl="0" eaLnBrk="1" latinLnBrk="1" hangingPunct="1">
      <a:defRPr sz="579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36" userDrawn="1">
          <p15:clr>
            <a:srgbClr val="A4A3A4"/>
          </p15:clr>
        </p15:guide>
        <p15:guide id="2" pos="6735" userDrawn="1">
          <p15:clr>
            <a:srgbClr val="A4A3A4"/>
          </p15:clr>
        </p15:guide>
        <p15:guide id="3" pos="424" userDrawn="1">
          <p15:clr>
            <a:srgbClr val="A4A3A4"/>
          </p15:clr>
        </p15:guide>
        <p15:guide id="4" pos="1304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4EB3CE"/>
    <a:srgbClr val="215968"/>
    <a:srgbClr val="1AA7A8"/>
    <a:srgbClr val="4BACC6"/>
    <a:srgbClr val="0D6EAA"/>
    <a:srgbClr val="233C58"/>
    <a:srgbClr val="FFC34B"/>
    <a:srgbClr val="F7A400"/>
    <a:srgbClr val="F374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04" autoAdjust="0"/>
    <p:restoredTop sz="94746" autoAdjust="0"/>
  </p:normalViewPr>
  <p:slideViewPr>
    <p:cSldViewPr showGuides="1">
      <p:cViewPr>
        <p:scale>
          <a:sx n="50" d="100"/>
          <a:sy n="50" d="100"/>
        </p:scale>
        <p:origin x="1986" y="36"/>
      </p:cViewPr>
      <p:guideLst>
        <p:guide orient="horz" pos="9536"/>
        <p:guide pos="6735"/>
        <p:guide pos="424"/>
        <p:guide pos="1304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0803"/>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75A67-930C-4E92-A71E-AE4DD44D14DD}" type="datetimeFigureOut">
              <a:rPr lang="ko-KR" altLang="en-US" smtClean="0"/>
              <a:t>2025-10-27</a:t>
            </a:fld>
            <a:endParaRPr lang="ko-KR" altLang="en-US"/>
          </a:p>
        </p:txBody>
      </p:sp>
      <p:sp>
        <p:nvSpPr>
          <p:cNvPr id="4" name="슬라이드 이미지 개체 틀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D11B17-461A-4354-B8E8-CB912E0EE15F}" type="slidenum">
              <a:rPr lang="ko-KR" altLang="en-US" smtClean="0"/>
              <a:t>‹#›</a:t>
            </a:fld>
            <a:endParaRPr lang="ko-KR" altLang="en-US"/>
          </a:p>
        </p:txBody>
      </p:sp>
    </p:spTree>
    <p:extLst>
      <p:ext uri="{BB962C8B-B14F-4D97-AF65-F5344CB8AC3E}">
        <p14:creationId xmlns:p14="http://schemas.microsoft.com/office/powerpoint/2010/main" val="3563559201"/>
      </p:ext>
    </p:extLst>
  </p:cSld>
  <p:clrMap bg1="lt1" tx1="dk1" bg2="lt2" tx2="dk2" accent1="accent1" accent2="accent2" accent3="accent3" accent4="accent4" accent5="accent5" accent6="accent6" hlink="hlink" folHlink="folHlink"/>
  <p:notesStyle>
    <a:lvl1pPr marL="0" algn="l" defTabSz="646026" rtl="0" eaLnBrk="1" latinLnBrk="1" hangingPunct="1">
      <a:defRPr sz="848" kern="1200">
        <a:solidFill>
          <a:schemeClr val="tx1"/>
        </a:solidFill>
        <a:latin typeface="+mn-lt"/>
        <a:ea typeface="+mn-ea"/>
        <a:cs typeface="+mn-cs"/>
      </a:defRPr>
    </a:lvl1pPr>
    <a:lvl2pPr marL="323013" algn="l" defTabSz="646026" rtl="0" eaLnBrk="1" latinLnBrk="1" hangingPunct="1">
      <a:defRPr sz="848" kern="1200">
        <a:solidFill>
          <a:schemeClr val="tx1"/>
        </a:solidFill>
        <a:latin typeface="+mn-lt"/>
        <a:ea typeface="+mn-ea"/>
        <a:cs typeface="+mn-cs"/>
      </a:defRPr>
    </a:lvl2pPr>
    <a:lvl3pPr marL="646026" algn="l" defTabSz="646026" rtl="0" eaLnBrk="1" latinLnBrk="1" hangingPunct="1">
      <a:defRPr sz="848" kern="1200">
        <a:solidFill>
          <a:schemeClr val="tx1"/>
        </a:solidFill>
        <a:latin typeface="+mn-lt"/>
        <a:ea typeface="+mn-ea"/>
        <a:cs typeface="+mn-cs"/>
      </a:defRPr>
    </a:lvl3pPr>
    <a:lvl4pPr marL="969039" algn="l" defTabSz="646026" rtl="0" eaLnBrk="1" latinLnBrk="1" hangingPunct="1">
      <a:defRPr sz="848" kern="1200">
        <a:solidFill>
          <a:schemeClr val="tx1"/>
        </a:solidFill>
        <a:latin typeface="+mn-lt"/>
        <a:ea typeface="+mn-ea"/>
        <a:cs typeface="+mn-cs"/>
      </a:defRPr>
    </a:lvl4pPr>
    <a:lvl5pPr marL="1292054" algn="l" defTabSz="646026" rtl="0" eaLnBrk="1" latinLnBrk="1" hangingPunct="1">
      <a:defRPr sz="848" kern="1200">
        <a:solidFill>
          <a:schemeClr val="tx1"/>
        </a:solidFill>
        <a:latin typeface="+mn-lt"/>
        <a:ea typeface="+mn-ea"/>
        <a:cs typeface="+mn-cs"/>
      </a:defRPr>
    </a:lvl5pPr>
    <a:lvl6pPr marL="1615066" algn="l" defTabSz="646026" rtl="0" eaLnBrk="1" latinLnBrk="1" hangingPunct="1">
      <a:defRPr sz="848" kern="1200">
        <a:solidFill>
          <a:schemeClr val="tx1"/>
        </a:solidFill>
        <a:latin typeface="+mn-lt"/>
        <a:ea typeface="+mn-ea"/>
        <a:cs typeface="+mn-cs"/>
      </a:defRPr>
    </a:lvl6pPr>
    <a:lvl7pPr marL="1938080" algn="l" defTabSz="646026" rtl="0" eaLnBrk="1" latinLnBrk="1" hangingPunct="1">
      <a:defRPr sz="848" kern="1200">
        <a:solidFill>
          <a:schemeClr val="tx1"/>
        </a:solidFill>
        <a:latin typeface="+mn-lt"/>
        <a:ea typeface="+mn-ea"/>
        <a:cs typeface="+mn-cs"/>
      </a:defRPr>
    </a:lvl7pPr>
    <a:lvl8pPr marL="2261093" algn="l" defTabSz="646026" rtl="0" eaLnBrk="1" latinLnBrk="1" hangingPunct="1">
      <a:defRPr sz="848" kern="1200">
        <a:solidFill>
          <a:schemeClr val="tx1"/>
        </a:solidFill>
        <a:latin typeface="+mn-lt"/>
        <a:ea typeface="+mn-ea"/>
        <a:cs typeface="+mn-cs"/>
      </a:defRPr>
    </a:lvl8pPr>
    <a:lvl9pPr marL="2584107" algn="l" defTabSz="646026" rtl="0" eaLnBrk="1" latinLnBrk="1" hangingPunct="1">
      <a:defRPr sz="84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2338388" y="1143000"/>
            <a:ext cx="2181225" cy="3086100"/>
          </a:xfrm>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5"/>
          </p:nvPr>
        </p:nvSpPr>
        <p:spPr/>
        <p:txBody>
          <a:bodyPr/>
          <a:lstStyle/>
          <a:p>
            <a:fld id="{33D11B17-461A-4354-B8E8-CB912E0EE15F}" type="slidenum">
              <a:rPr lang="ko-KR" altLang="en-US" smtClean="0"/>
              <a:t>1</a:t>
            </a:fld>
            <a:endParaRPr lang="ko-KR" altLang="en-US"/>
          </a:p>
        </p:txBody>
      </p:sp>
    </p:spTree>
    <p:extLst>
      <p:ext uri="{BB962C8B-B14F-4D97-AF65-F5344CB8AC3E}">
        <p14:creationId xmlns:p14="http://schemas.microsoft.com/office/powerpoint/2010/main" val="4123520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5_빈 화면">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BE54038C-C7A5-DF70-164D-A1560BD81914}"/>
              </a:ext>
            </a:extLst>
          </p:cNvPr>
          <p:cNvGrpSpPr/>
          <p:nvPr userDrawn="1"/>
        </p:nvGrpSpPr>
        <p:grpSpPr>
          <a:xfrm>
            <a:off x="0" y="30037286"/>
            <a:ext cx="21383626" cy="237927"/>
            <a:chOff x="7698" y="1"/>
            <a:chExt cx="32363652" cy="555160"/>
          </a:xfrm>
        </p:grpSpPr>
        <p:sp>
          <p:nvSpPr>
            <p:cNvPr id="3" name="직사각형 2">
              <a:extLst>
                <a:ext uri="{FF2B5EF4-FFF2-40B4-BE49-F238E27FC236}">
                  <a16:creationId xmlns:a16="http://schemas.microsoft.com/office/drawing/2014/main" id="{8D7BA7F9-2FE2-459B-0C4D-1FAD48C85AB1}"/>
                </a:ext>
              </a:extLst>
            </p:cNvPr>
            <p:cNvSpPr/>
            <p:nvPr/>
          </p:nvSpPr>
          <p:spPr>
            <a:xfrm>
              <a:off x="10771260" y="1"/>
              <a:ext cx="21600090" cy="555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2"/>
            </a:p>
          </p:txBody>
        </p:sp>
        <p:sp>
          <p:nvSpPr>
            <p:cNvPr id="4" name="직사각형 3">
              <a:extLst>
                <a:ext uri="{FF2B5EF4-FFF2-40B4-BE49-F238E27FC236}">
                  <a16:creationId xmlns:a16="http://schemas.microsoft.com/office/drawing/2014/main" id="{80AA8ECC-4BF9-BE30-BD88-6DE5F2429749}"/>
                </a:ext>
              </a:extLst>
            </p:cNvPr>
            <p:cNvSpPr/>
            <p:nvPr/>
          </p:nvSpPr>
          <p:spPr>
            <a:xfrm>
              <a:off x="7698" y="1"/>
              <a:ext cx="21600090" cy="555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2"/>
            </a:p>
          </p:txBody>
        </p:sp>
        <p:sp>
          <p:nvSpPr>
            <p:cNvPr id="5" name="직사각형 4">
              <a:extLst>
                <a:ext uri="{FF2B5EF4-FFF2-40B4-BE49-F238E27FC236}">
                  <a16:creationId xmlns:a16="http://schemas.microsoft.com/office/drawing/2014/main" id="{89CA4F2C-FC5F-7C1F-3730-792D44BB09F7}"/>
                </a:ext>
              </a:extLst>
            </p:cNvPr>
            <p:cNvSpPr/>
            <p:nvPr/>
          </p:nvSpPr>
          <p:spPr>
            <a:xfrm>
              <a:off x="5399598" y="1"/>
              <a:ext cx="21600090" cy="555160"/>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2"/>
            </a:p>
          </p:txBody>
        </p:sp>
      </p:grpSp>
      <p:grpSp>
        <p:nvGrpSpPr>
          <p:cNvPr id="6" name="그룹 5">
            <a:extLst>
              <a:ext uri="{FF2B5EF4-FFF2-40B4-BE49-F238E27FC236}">
                <a16:creationId xmlns:a16="http://schemas.microsoft.com/office/drawing/2014/main" id="{7319DEB0-06FE-61C4-83A1-E6DDEED2EAEB}"/>
              </a:ext>
            </a:extLst>
          </p:cNvPr>
          <p:cNvGrpSpPr/>
          <p:nvPr userDrawn="1"/>
        </p:nvGrpSpPr>
        <p:grpSpPr>
          <a:xfrm>
            <a:off x="-235" y="0"/>
            <a:ext cx="21384538" cy="4719954"/>
            <a:chOff x="-26762" y="-1"/>
            <a:chExt cx="30276505" cy="6673175"/>
          </a:xfrm>
        </p:grpSpPr>
        <p:sp>
          <p:nvSpPr>
            <p:cNvPr id="7" name="직사각형 6">
              <a:extLst>
                <a:ext uri="{FF2B5EF4-FFF2-40B4-BE49-F238E27FC236}">
                  <a16:creationId xmlns:a16="http://schemas.microsoft.com/office/drawing/2014/main" id="{94A0017C-9D1D-44DD-D423-D10D6A6E6057}"/>
                </a:ext>
              </a:extLst>
            </p:cNvPr>
            <p:cNvSpPr/>
            <p:nvPr userDrawn="1"/>
          </p:nvSpPr>
          <p:spPr>
            <a:xfrm>
              <a:off x="-26135" y="-1"/>
              <a:ext cx="30275878" cy="6480000"/>
            </a:xfrm>
            <a:prstGeom prst="rect">
              <a:avLst/>
            </a:prstGeom>
            <a:solidFill>
              <a:srgbClr val="0D6E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2"/>
            </a:p>
          </p:txBody>
        </p:sp>
        <p:sp>
          <p:nvSpPr>
            <p:cNvPr id="8" name="직사각형 7">
              <a:extLst>
                <a:ext uri="{FF2B5EF4-FFF2-40B4-BE49-F238E27FC236}">
                  <a16:creationId xmlns:a16="http://schemas.microsoft.com/office/drawing/2014/main" id="{8F4D5095-DFAB-FCB4-5A66-FCFEACFF5485}"/>
                </a:ext>
              </a:extLst>
            </p:cNvPr>
            <p:cNvSpPr/>
            <p:nvPr/>
          </p:nvSpPr>
          <p:spPr>
            <a:xfrm>
              <a:off x="-26762" y="6199176"/>
              <a:ext cx="30275878" cy="473998"/>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2"/>
            </a:p>
          </p:txBody>
        </p:sp>
      </p:grpSp>
    </p:spTree>
    <p:extLst>
      <p:ext uri="{BB962C8B-B14F-4D97-AF65-F5344CB8AC3E}">
        <p14:creationId xmlns:p14="http://schemas.microsoft.com/office/powerpoint/2010/main" val="2511551583"/>
      </p:ext>
    </p:extLst>
  </p:cSld>
  <p:clrMapOvr>
    <a:masterClrMapping/>
  </p:clrMapOvr>
  <p:extLst>
    <p:ext uri="{DCECCB84-F9BA-43D5-87BE-67443E8EF086}">
      <p15:sldGuideLst xmlns:p15="http://schemas.microsoft.com/office/powerpoint/2012/main">
        <p15:guide id="1" orient="horz" pos="9536" userDrawn="1">
          <p15:clr>
            <a:srgbClr val="FBAE40"/>
          </p15:clr>
        </p15:guide>
        <p15:guide id="2" pos="673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8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1186694"/>
      </p:ext>
    </p:extLst>
  </p:cSld>
  <p:clrMapOvr>
    <a:masterClrMapping/>
  </p:clrMapOvr>
  <p:extLst>
    <p:ext uri="{DCECCB84-F9BA-43D5-87BE-67443E8EF086}">
      <p15:sldGuideLst xmlns:p15="http://schemas.microsoft.com/office/powerpoint/2012/main">
        <p15:guide id="1" orient="horz" pos="9536" userDrawn="1">
          <p15:clr>
            <a:srgbClr val="FBAE40"/>
          </p15:clr>
        </p15:guide>
        <p15:guide id="2" pos="6735"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6_빈 화면">
    <p:spTree>
      <p:nvGrpSpPr>
        <p:cNvPr id="1" name=""/>
        <p:cNvGrpSpPr/>
        <p:nvPr/>
      </p:nvGrpSpPr>
      <p:grpSpPr>
        <a:xfrm>
          <a:off x="0" y="0"/>
          <a:ext cx="0" cy="0"/>
          <a:chOff x="0" y="0"/>
          <a:chExt cx="0" cy="0"/>
        </a:xfrm>
      </p:grpSpPr>
      <p:sp>
        <p:nvSpPr>
          <p:cNvPr id="10" name="자유형: 도형 9">
            <a:extLst>
              <a:ext uri="{FF2B5EF4-FFF2-40B4-BE49-F238E27FC236}">
                <a16:creationId xmlns:a16="http://schemas.microsoft.com/office/drawing/2014/main" id="{AC176D51-4B99-102F-04CD-89BE9B269BC8}"/>
              </a:ext>
            </a:extLst>
          </p:cNvPr>
          <p:cNvSpPr/>
          <p:nvPr userDrawn="1"/>
        </p:nvSpPr>
        <p:spPr>
          <a:xfrm>
            <a:off x="10691813" y="5285114"/>
            <a:ext cx="0" cy="24189749"/>
          </a:xfrm>
          <a:custGeom>
            <a:avLst/>
            <a:gdLst>
              <a:gd name="connsiteX0" fmla="*/ 0 w 0"/>
              <a:gd name="connsiteY0" fmla="*/ 0 h 34355314"/>
              <a:gd name="connsiteX1" fmla="*/ 0 w 0"/>
              <a:gd name="connsiteY1" fmla="*/ 34355314 h 34355314"/>
            </a:gdLst>
            <a:ahLst/>
            <a:cxnLst>
              <a:cxn ang="0">
                <a:pos x="connsiteX0" y="connsiteY0"/>
              </a:cxn>
              <a:cxn ang="0">
                <a:pos x="connsiteX1" y="connsiteY1"/>
              </a:cxn>
            </a:cxnLst>
            <a:rect l="l" t="t" r="r" b="b"/>
            <a:pathLst>
              <a:path h="34355314">
                <a:moveTo>
                  <a:pt x="0" y="0"/>
                </a:moveTo>
                <a:lnTo>
                  <a:pt x="0" y="34355314"/>
                </a:lnTo>
              </a:path>
            </a:pathLst>
          </a:custGeom>
          <a:noFill/>
          <a:ln w="9525">
            <a:solidFill>
              <a:schemeClr val="bg1">
                <a:lumMod val="85000"/>
              </a:schemeClr>
            </a:solidFill>
            <a:headEnd type="oval" w="sm" len="med"/>
            <a:tailEnd type="oval"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2"/>
          </a:p>
        </p:txBody>
      </p:sp>
    </p:spTree>
    <p:extLst>
      <p:ext uri="{BB962C8B-B14F-4D97-AF65-F5344CB8AC3E}">
        <p14:creationId xmlns:p14="http://schemas.microsoft.com/office/powerpoint/2010/main" val="1993999185"/>
      </p:ext>
    </p:extLst>
  </p:cSld>
  <p:clrMapOvr>
    <a:masterClrMapping/>
  </p:clrMapOvr>
  <p:extLst>
    <p:ext uri="{DCECCB84-F9BA-43D5-87BE-67443E8EF086}">
      <p15:sldGuideLst xmlns:p15="http://schemas.microsoft.com/office/powerpoint/2012/main">
        <p15:guide id="1" orient="horz" pos="9536" userDrawn="1">
          <p15:clr>
            <a:srgbClr val="FBAE40"/>
          </p15:clr>
        </p15:guide>
        <p15:guide id="2" pos="6735"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7_빈 화면">
    <p:spTree>
      <p:nvGrpSpPr>
        <p:cNvPr id="1" name=""/>
        <p:cNvGrpSpPr/>
        <p:nvPr/>
      </p:nvGrpSpPr>
      <p:grpSpPr>
        <a:xfrm>
          <a:off x="0" y="0"/>
          <a:ext cx="0" cy="0"/>
          <a:chOff x="0" y="0"/>
          <a:chExt cx="0" cy="0"/>
        </a:xfrm>
      </p:grpSpPr>
      <p:sp>
        <p:nvSpPr>
          <p:cNvPr id="10" name="자유형: 도형 9">
            <a:extLst>
              <a:ext uri="{FF2B5EF4-FFF2-40B4-BE49-F238E27FC236}">
                <a16:creationId xmlns:a16="http://schemas.microsoft.com/office/drawing/2014/main" id="{AC176D51-4B99-102F-04CD-89BE9B269BC8}"/>
              </a:ext>
            </a:extLst>
          </p:cNvPr>
          <p:cNvSpPr/>
          <p:nvPr userDrawn="1"/>
        </p:nvSpPr>
        <p:spPr>
          <a:xfrm>
            <a:off x="10691813" y="5285114"/>
            <a:ext cx="0" cy="24189749"/>
          </a:xfrm>
          <a:custGeom>
            <a:avLst/>
            <a:gdLst>
              <a:gd name="connsiteX0" fmla="*/ 0 w 0"/>
              <a:gd name="connsiteY0" fmla="*/ 0 h 34355314"/>
              <a:gd name="connsiteX1" fmla="*/ 0 w 0"/>
              <a:gd name="connsiteY1" fmla="*/ 34355314 h 34355314"/>
            </a:gdLst>
            <a:ahLst/>
            <a:cxnLst>
              <a:cxn ang="0">
                <a:pos x="connsiteX0" y="connsiteY0"/>
              </a:cxn>
              <a:cxn ang="0">
                <a:pos x="connsiteX1" y="connsiteY1"/>
              </a:cxn>
            </a:cxnLst>
            <a:rect l="l" t="t" r="r" b="b"/>
            <a:pathLst>
              <a:path h="34355314">
                <a:moveTo>
                  <a:pt x="0" y="0"/>
                </a:moveTo>
                <a:lnTo>
                  <a:pt x="0" y="34355314"/>
                </a:lnTo>
              </a:path>
            </a:pathLst>
          </a:custGeom>
          <a:noFill/>
          <a:ln w="9525">
            <a:solidFill>
              <a:schemeClr val="bg1">
                <a:lumMod val="85000"/>
              </a:schemeClr>
            </a:solidFill>
            <a:headEnd type="oval" w="sm" len="med"/>
            <a:tailEnd type="oval" w="sm"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5402"/>
          </a:p>
        </p:txBody>
      </p:sp>
    </p:spTree>
    <p:extLst>
      <p:ext uri="{BB962C8B-B14F-4D97-AF65-F5344CB8AC3E}">
        <p14:creationId xmlns:p14="http://schemas.microsoft.com/office/powerpoint/2010/main" val="2196525103"/>
      </p:ext>
    </p:extLst>
  </p:cSld>
  <p:clrMapOvr>
    <a:masterClrMapping/>
  </p:clrMapOvr>
  <p:extLst>
    <p:ext uri="{DCECCB84-F9BA-43D5-87BE-67443E8EF086}">
      <p15:sldGuideLst xmlns:p15="http://schemas.microsoft.com/office/powerpoint/2012/main">
        <p15:guide id="1" orient="horz" pos="9536" userDrawn="1">
          <p15:clr>
            <a:srgbClr val="FBAE40"/>
          </p15:clr>
        </p15:guide>
        <p15:guide id="2" pos="673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4_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8675097"/>
      </p:ext>
    </p:extLst>
  </p:cSld>
  <p:clrMapOvr>
    <a:masterClrMapping/>
  </p:clrMapOvr>
  <p:extLst>
    <p:ext uri="{DCECCB84-F9BA-43D5-87BE-67443E8EF086}">
      <p15:sldGuideLst xmlns:p15="http://schemas.microsoft.com/office/powerpoint/2012/main">
        <p15:guide id="1" orient="horz" pos="9536" userDrawn="1">
          <p15:clr>
            <a:srgbClr val="FBAE40"/>
          </p15:clr>
        </p15:guide>
        <p15:guide id="2" pos="673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2448321"/>
      </p:ext>
    </p:extLst>
  </p:cSld>
  <p:clrMapOvr>
    <a:masterClrMapping/>
  </p:clrMapOvr>
  <p:extLst>
    <p:ext uri="{DCECCB84-F9BA-43D5-87BE-67443E8EF086}">
      <p15:sldGuideLst xmlns:p15="http://schemas.microsoft.com/office/powerpoint/2012/main">
        <p15:guide id="1" orient="horz" pos="9536" userDrawn="1">
          <p15:clr>
            <a:srgbClr val="FBAE40"/>
          </p15:clr>
        </p15:guide>
        <p15:guide id="2" pos="6735"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1069181" y="1212415"/>
            <a:ext cx="19245263" cy="5045868"/>
          </a:xfrm>
          <a:prstGeom prst="rect">
            <a:avLst/>
          </a:prstGeom>
        </p:spPr>
        <p:txBody>
          <a:bodyPr vert="horz" lIns="417635" tIns="208818" rIns="417635" bIns="208818" rtlCol="0" anchor="ctr">
            <a:normAutofit/>
          </a:bodyPr>
          <a:lstStyle/>
          <a:p>
            <a:r>
              <a:rPr lang="ko-KR" altLang="en-US"/>
              <a:t>마스터 제목 스타일 편집</a:t>
            </a:r>
          </a:p>
        </p:txBody>
      </p:sp>
      <p:sp>
        <p:nvSpPr>
          <p:cNvPr id="3" name="텍스트 개체 틀 2"/>
          <p:cNvSpPr>
            <a:spLocks noGrp="1"/>
          </p:cNvSpPr>
          <p:nvPr>
            <p:ph type="body" idx="1"/>
          </p:nvPr>
        </p:nvSpPr>
        <p:spPr>
          <a:xfrm>
            <a:off x="1069181" y="7064223"/>
            <a:ext cx="19245263" cy="19980241"/>
          </a:xfrm>
          <a:prstGeom prst="rect">
            <a:avLst/>
          </a:prstGeom>
        </p:spPr>
        <p:txBody>
          <a:bodyPr vert="horz" lIns="417635" tIns="208818" rIns="417635" bIns="208818"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1069185" y="28060641"/>
            <a:ext cx="4989513" cy="1611875"/>
          </a:xfrm>
          <a:prstGeom prst="rect">
            <a:avLst/>
          </a:prstGeom>
        </p:spPr>
        <p:txBody>
          <a:bodyPr vert="horz" lIns="417635" tIns="208818" rIns="417635" bIns="208818" rtlCol="0" anchor="ctr"/>
          <a:lstStyle>
            <a:lvl1pPr algn="l">
              <a:defRPr sz="3657">
                <a:solidFill>
                  <a:schemeClr val="tx1">
                    <a:tint val="75000"/>
                  </a:schemeClr>
                </a:solidFill>
              </a:defRPr>
            </a:lvl1pPr>
          </a:lstStyle>
          <a:p>
            <a:fld id="{86BD32EA-93D2-422C-9D50-DCDFD5662F59}" type="datetimeFigureOut">
              <a:rPr lang="ko-KR" altLang="en-US" smtClean="0"/>
              <a:t>2025-10-27</a:t>
            </a:fld>
            <a:endParaRPr lang="ko-KR" altLang="en-US"/>
          </a:p>
        </p:txBody>
      </p:sp>
      <p:sp>
        <p:nvSpPr>
          <p:cNvPr id="5" name="바닥글 개체 틀 4"/>
          <p:cNvSpPr>
            <a:spLocks noGrp="1"/>
          </p:cNvSpPr>
          <p:nvPr>
            <p:ph type="ftr" sz="quarter" idx="3"/>
          </p:nvPr>
        </p:nvSpPr>
        <p:spPr>
          <a:xfrm>
            <a:off x="7306075" y="28060641"/>
            <a:ext cx="6771481" cy="1611875"/>
          </a:xfrm>
          <a:prstGeom prst="rect">
            <a:avLst/>
          </a:prstGeom>
        </p:spPr>
        <p:txBody>
          <a:bodyPr vert="horz" lIns="417635" tIns="208818" rIns="417635" bIns="208818" rtlCol="0" anchor="ctr"/>
          <a:lstStyle>
            <a:lvl1pPr algn="ctr">
              <a:defRPr sz="3657">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15324936" y="28060641"/>
            <a:ext cx="4989513" cy="1611875"/>
          </a:xfrm>
          <a:prstGeom prst="rect">
            <a:avLst/>
          </a:prstGeom>
        </p:spPr>
        <p:txBody>
          <a:bodyPr vert="horz" lIns="417635" tIns="208818" rIns="417635" bIns="208818" rtlCol="0" anchor="ctr"/>
          <a:lstStyle>
            <a:lvl1pPr algn="r">
              <a:defRPr sz="3657">
                <a:solidFill>
                  <a:schemeClr val="tx1">
                    <a:tint val="75000"/>
                  </a:schemeClr>
                </a:solidFill>
              </a:defRPr>
            </a:lvl1pPr>
          </a:lstStyle>
          <a:p>
            <a:fld id="{CD5A678E-E807-4BC3-8392-26D7FE55F75E}" type="slidenum">
              <a:rPr lang="ko-KR" altLang="en-US" smtClean="0"/>
              <a:t>‹#›</a:t>
            </a:fld>
            <a:endParaRPr lang="ko-KR" altLang="en-US"/>
          </a:p>
        </p:txBody>
      </p:sp>
    </p:spTree>
    <p:extLst>
      <p:ext uri="{BB962C8B-B14F-4D97-AF65-F5344CB8AC3E}">
        <p14:creationId xmlns:p14="http://schemas.microsoft.com/office/powerpoint/2010/main" val="2109511996"/>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2" r:id="rId3"/>
    <p:sldLayoutId id="2147483663" r:id="rId4"/>
    <p:sldLayoutId id="2147483659" r:id="rId5"/>
    <p:sldLayoutId id="2147483660" r:id="rId6"/>
  </p:sldLayoutIdLst>
  <p:txStyles>
    <p:titleStyle>
      <a:lvl1pPr algn="ctr" defTabSz="2777100" rtl="0" eaLnBrk="1" latinLnBrk="1" hangingPunct="1">
        <a:spcBef>
          <a:spcPct val="0"/>
        </a:spcBef>
        <a:buNone/>
        <a:defRPr sz="13366" kern="1200">
          <a:solidFill>
            <a:schemeClr val="tx1"/>
          </a:solidFill>
          <a:latin typeface="+mj-lt"/>
          <a:ea typeface="+mj-ea"/>
          <a:cs typeface="+mj-cs"/>
        </a:defRPr>
      </a:lvl1pPr>
    </p:titleStyle>
    <p:bodyStyle>
      <a:lvl1pPr marL="1041412" indent="-1041412" algn="l" defTabSz="2777100" rtl="0" eaLnBrk="1" latinLnBrk="1" hangingPunct="1">
        <a:spcBef>
          <a:spcPct val="20000"/>
        </a:spcBef>
        <a:buFont typeface="Arial" pitchFamily="34" charset="0"/>
        <a:buChar char="•"/>
        <a:defRPr sz="9708" kern="1200">
          <a:solidFill>
            <a:schemeClr val="tx1"/>
          </a:solidFill>
          <a:latin typeface="+mn-lt"/>
          <a:ea typeface="+mn-ea"/>
          <a:cs typeface="+mn-cs"/>
        </a:defRPr>
      </a:lvl1pPr>
      <a:lvl2pPr marL="2256393" indent="-867844" algn="l" defTabSz="2777100" rtl="0" eaLnBrk="1" latinLnBrk="1" hangingPunct="1">
        <a:spcBef>
          <a:spcPct val="20000"/>
        </a:spcBef>
        <a:buFont typeface="Arial" pitchFamily="34" charset="0"/>
        <a:buChar char="–"/>
        <a:defRPr sz="8445" kern="1200">
          <a:solidFill>
            <a:schemeClr val="tx1"/>
          </a:solidFill>
          <a:latin typeface="+mn-lt"/>
          <a:ea typeface="+mn-ea"/>
          <a:cs typeface="+mn-cs"/>
        </a:defRPr>
      </a:lvl2pPr>
      <a:lvl3pPr marL="3471373" indent="-694276" algn="l" defTabSz="2777100" rtl="0" eaLnBrk="1" latinLnBrk="1" hangingPunct="1">
        <a:spcBef>
          <a:spcPct val="20000"/>
        </a:spcBef>
        <a:buFont typeface="Arial" pitchFamily="34" charset="0"/>
        <a:buChar char="•"/>
        <a:defRPr sz="7314" kern="1200">
          <a:solidFill>
            <a:schemeClr val="tx1"/>
          </a:solidFill>
          <a:latin typeface="+mn-lt"/>
          <a:ea typeface="+mn-ea"/>
          <a:cs typeface="+mn-cs"/>
        </a:defRPr>
      </a:lvl3pPr>
      <a:lvl4pPr marL="4859922" indent="-694276" algn="l" defTabSz="2777100" rtl="0" eaLnBrk="1" latinLnBrk="1" hangingPunct="1">
        <a:spcBef>
          <a:spcPct val="20000"/>
        </a:spcBef>
        <a:buFont typeface="Arial" pitchFamily="34" charset="0"/>
        <a:buChar char="–"/>
        <a:defRPr sz="6052" kern="1200">
          <a:solidFill>
            <a:schemeClr val="tx1"/>
          </a:solidFill>
          <a:latin typeface="+mn-lt"/>
          <a:ea typeface="+mn-ea"/>
          <a:cs typeface="+mn-cs"/>
        </a:defRPr>
      </a:lvl4pPr>
      <a:lvl5pPr marL="6248472" indent="-694276" algn="l" defTabSz="2777100" rtl="0" eaLnBrk="1" latinLnBrk="1" hangingPunct="1">
        <a:spcBef>
          <a:spcPct val="20000"/>
        </a:spcBef>
        <a:buFont typeface="Arial" pitchFamily="34" charset="0"/>
        <a:buChar char="»"/>
        <a:defRPr sz="6052" kern="1200">
          <a:solidFill>
            <a:schemeClr val="tx1"/>
          </a:solidFill>
          <a:latin typeface="+mn-lt"/>
          <a:ea typeface="+mn-ea"/>
          <a:cs typeface="+mn-cs"/>
        </a:defRPr>
      </a:lvl5pPr>
      <a:lvl6pPr marL="7637023" indent="-694276" algn="l" defTabSz="2777100" rtl="0" eaLnBrk="1" latinLnBrk="1" hangingPunct="1">
        <a:spcBef>
          <a:spcPct val="20000"/>
        </a:spcBef>
        <a:buFont typeface="Arial" pitchFamily="34" charset="0"/>
        <a:buChar char="•"/>
        <a:defRPr sz="6052" kern="1200">
          <a:solidFill>
            <a:schemeClr val="tx1"/>
          </a:solidFill>
          <a:latin typeface="+mn-lt"/>
          <a:ea typeface="+mn-ea"/>
          <a:cs typeface="+mn-cs"/>
        </a:defRPr>
      </a:lvl6pPr>
      <a:lvl7pPr marL="9025573" indent="-694276" algn="l" defTabSz="2777100" rtl="0" eaLnBrk="1" latinLnBrk="1" hangingPunct="1">
        <a:spcBef>
          <a:spcPct val="20000"/>
        </a:spcBef>
        <a:buFont typeface="Arial" pitchFamily="34" charset="0"/>
        <a:buChar char="•"/>
        <a:defRPr sz="6052" kern="1200">
          <a:solidFill>
            <a:schemeClr val="tx1"/>
          </a:solidFill>
          <a:latin typeface="+mn-lt"/>
          <a:ea typeface="+mn-ea"/>
          <a:cs typeface="+mn-cs"/>
        </a:defRPr>
      </a:lvl7pPr>
      <a:lvl8pPr marL="10414122" indent="-694276" algn="l" defTabSz="2777100" rtl="0" eaLnBrk="1" latinLnBrk="1" hangingPunct="1">
        <a:spcBef>
          <a:spcPct val="20000"/>
        </a:spcBef>
        <a:buFont typeface="Arial" pitchFamily="34" charset="0"/>
        <a:buChar char="•"/>
        <a:defRPr sz="6052" kern="1200">
          <a:solidFill>
            <a:schemeClr val="tx1"/>
          </a:solidFill>
          <a:latin typeface="+mn-lt"/>
          <a:ea typeface="+mn-ea"/>
          <a:cs typeface="+mn-cs"/>
        </a:defRPr>
      </a:lvl8pPr>
      <a:lvl9pPr marL="11802670" indent="-694276" algn="l" defTabSz="2777100" rtl="0" eaLnBrk="1" latinLnBrk="1" hangingPunct="1">
        <a:spcBef>
          <a:spcPct val="20000"/>
        </a:spcBef>
        <a:buFont typeface="Arial" pitchFamily="34" charset="0"/>
        <a:buChar char="•"/>
        <a:defRPr sz="6052" kern="1200">
          <a:solidFill>
            <a:schemeClr val="tx1"/>
          </a:solidFill>
          <a:latin typeface="+mn-lt"/>
          <a:ea typeface="+mn-ea"/>
          <a:cs typeface="+mn-cs"/>
        </a:defRPr>
      </a:lvl9pPr>
    </p:bodyStyle>
    <p:otherStyle>
      <a:defPPr>
        <a:defRPr lang="ko-KR"/>
      </a:defPPr>
      <a:lvl1pPr marL="0" algn="l" defTabSz="2777100" rtl="0" eaLnBrk="1" latinLnBrk="1" hangingPunct="1">
        <a:defRPr sz="5452" kern="1200">
          <a:solidFill>
            <a:schemeClr val="tx1"/>
          </a:solidFill>
          <a:latin typeface="+mn-lt"/>
          <a:ea typeface="+mn-ea"/>
          <a:cs typeface="+mn-cs"/>
        </a:defRPr>
      </a:lvl1pPr>
      <a:lvl2pPr marL="1388549" algn="l" defTabSz="2777100" rtl="0" eaLnBrk="1" latinLnBrk="1" hangingPunct="1">
        <a:defRPr sz="5452" kern="1200">
          <a:solidFill>
            <a:schemeClr val="tx1"/>
          </a:solidFill>
          <a:latin typeface="+mn-lt"/>
          <a:ea typeface="+mn-ea"/>
          <a:cs typeface="+mn-cs"/>
        </a:defRPr>
      </a:lvl2pPr>
      <a:lvl3pPr marL="2777100" algn="l" defTabSz="2777100" rtl="0" eaLnBrk="1" latinLnBrk="1" hangingPunct="1">
        <a:defRPr sz="5452" kern="1200">
          <a:solidFill>
            <a:schemeClr val="tx1"/>
          </a:solidFill>
          <a:latin typeface="+mn-lt"/>
          <a:ea typeface="+mn-ea"/>
          <a:cs typeface="+mn-cs"/>
        </a:defRPr>
      </a:lvl3pPr>
      <a:lvl4pPr marL="4165649" algn="l" defTabSz="2777100" rtl="0" eaLnBrk="1" latinLnBrk="1" hangingPunct="1">
        <a:defRPr sz="5452" kern="1200">
          <a:solidFill>
            <a:schemeClr val="tx1"/>
          </a:solidFill>
          <a:latin typeface="+mn-lt"/>
          <a:ea typeface="+mn-ea"/>
          <a:cs typeface="+mn-cs"/>
        </a:defRPr>
      </a:lvl4pPr>
      <a:lvl5pPr marL="5554197" algn="l" defTabSz="2777100" rtl="0" eaLnBrk="1" latinLnBrk="1" hangingPunct="1">
        <a:defRPr sz="5452" kern="1200">
          <a:solidFill>
            <a:schemeClr val="tx1"/>
          </a:solidFill>
          <a:latin typeface="+mn-lt"/>
          <a:ea typeface="+mn-ea"/>
          <a:cs typeface="+mn-cs"/>
        </a:defRPr>
      </a:lvl5pPr>
      <a:lvl6pPr marL="6942747" algn="l" defTabSz="2777100" rtl="0" eaLnBrk="1" latinLnBrk="1" hangingPunct="1">
        <a:defRPr sz="5452" kern="1200">
          <a:solidFill>
            <a:schemeClr val="tx1"/>
          </a:solidFill>
          <a:latin typeface="+mn-lt"/>
          <a:ea typeface="+mn-ea"/>
          <a:cs typeface="+mn-cs"/>
        </a:defRPr>
      </a:lvl6pPr>
      <a:lvl7pPr marL="8331298" algn="l" defTabSz="2777100" rtl="0" eaLnBrk="1" latinLnBrk="1" hangingPunct="1">
        <a:defRPr sz="5452" kern="1200">
          <a:solidFill>
            <a:schemeClr val="tx1"/>
          </a:solidFill>
          <a:latin typeface="+mn-lt"/>
          <a:ea typeface="+mn-ea"/>
          <a:cs typeface="+mn-cs"/>
        </a:defRPr>
      </a:lvl7pPr>
      <a:lvl8pPr marL="9719847" algn="l" defTabSz="2777100" rtl="0" eaLnBrk="1" latinLnBrk="1" hangingPunct="1">
        <a:defRPr sz="5452" kern="1200">
          <a:solidFill>
            <a:schemeClr val="tx1"/>
          </a:solidFill>
          <a:latin typeface="+mn-lt"/>
          <a:ea typeface="+mn-ea"/>
          <a:cs typeface="+mn-cs"/>
        </a:defRPr>
      </a:lvl8pPr>
      <a:lvl9pPr marL="11108396" algn="l" defTabSz="2777100" rtl="0" eaLnBrk="1" latinLnBrk="1" hangingPunct="1">
        <a:defRPr sz="545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536" userDrawn="1">
          <p15:clr>
            <a:srgbClr val="F26B43"/>
          </p15:clr>
        </p15:guide>
        <p15:guide id="2" pos="6735"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21000" r="-21000"/>
          </a:stretch>
        </a:blip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35208259-8491-FAA0-62E5-64D2BDD2D759}"/>
              </a:ext>
            </a:extLst>
          </p:cNvPr>
          <p:cNvSpPr/>
          <p:nvPr/>
        </p:nvSpPr>
        <p:spPr>
          <a:xfrm>
            <a:off x="686376" y="6059516"/>
            <a:ext cx="9723171" cy="5185199"/>
          </a:xfrm>
          <a:prstGeom prst="rect">
            <a:avLst/>
          </a:prstGeom>
        </p:spPr>
        <p:txBody>
          <a:bodyPr wrap="square" lIns="70735" tIns="35368" rIns="70735" bIns="35368">
            <a:spAutoFit/>
          </a:bodyPr>
          <a:lstStyle/>
          <a:p>
            <a:pPr marL="0" lvl="1">
              <a:lnSpc>
                <a:spcPct val="120000"/>
              </a:lnSpc>
            </a:pPr>
            <a:r>
              <a:rPr lang="en-US" altLang="ko-KR" sz="2000" spc="-15" dirty="0">
                <a:ln>
                  <a:solidFill>
                    <a:schemeClr val="accent1">
                      <a:alpha val="0"/>
                    </a:schemeClr>
                  </a:solidFill>
                </a:ln>
                <a:solidFill>
                  <a:schemeClr val="accent1">
                    <a:lumMod val="20000"/>
                    <a:lumOff val="80000"/>
                  </a:schemeClr>
                </a:solidFill>
                <a:latin typeface="나눔고딕" pitchFamily="50" charset="-127"/>
                <a:ea typeface="나눔고딕" pitchFamily="50" charset="-127"/>
                <a:cs typeface="Arial" panose="020B0604020202020204" pitchFamily="34" charset="0"/>
              </a:rPr>
              <a:t>This project details the development of a dedicated-server-based cooperative multiplayer action game, leveraging the Unity engine and Mirror networking framework. The game is implemented as a 4-player cooperative battle system requiring player collaboration to defeat AI-controlled enemies.</a:t>
            </a:r>
          </a:p>
          <a:p>
            <a:pPr marL="0" lvl="1">
              <a:lnSpc>
                <a:spcPct val="120000"/>
              </a:lnSpc>
            </a:pPr>
            <a:r>
              <a:rPr lang="en-US" altLang="ko-KR" sz="2000" spc="-15" dirty="0">
                <a:ln>
                  <a:solidFill>
                    <a:schemeClr val="accent1">
                      <a:alpha val="0"/>
                    </a:schemeClr>
                  </a:solidFill>
                </a:ln>
                <a:solidFill>
                  <a:schemeClr val="accent1">
                    <a:lumMod val="20000"/>
                    <a:lumOff val="80000"/>
                  </a:schemeClr>
                </a:solidFill>
                <a:latin typeface="나눔고딕" pitchFamily="50" charset="-127"/>
                <a:ea typeface="나눔고딕" pitchFamily="50" charset="-127"/>
                <a:cs typeface="Arial" panose="020B0604020202020204" pitchFamily="34" charset="0"/>
              </a:rPr>
              <a:t> Departing from traditional peer-to-peer models, this project employs a dedicated server architecture to enhance fairness, stability, and scalability. The dedicated server oversees critical functions such as room creation, synchronization, and enemy spawning, while each client is responsible for player control, combat logic, and UI rendering.</a:t>
            </a:r>
          </a:p>
          <a:p>
            <a:pPr marL="0" lvl="1">
              <a:lnSpc>
                <a:spcPct val="120000"/>
              </a:lnSpc>
            </a:pPr>
            <a:r>
              <a:rPr lang="en-US" altLang="ko-KR" sz="2000" spc="-15" dirty="0">
                <a:ln>
                  <a:solidFill>
                    <a:schemeClr val="accent1">
                      <a:alpha val="0"/>
                    </a:schemeClr>
                  </a:solidFill>
                </a:ln>
                <a:solidFill>
                  <a:schemeClr val="accent1">
                    <a:lumMod val="20000"/>
                    <a:lumOff val="80000"/>
                  </a:schemeClr>
                </a:solidFill>
                <a:latin typeface="나눔고딕" pitchFamily="50" charset="-127"/>
                <a:ea typeface="나눔고딕" pitchFamily="50" charset="-127"/>
                <a:cs typeface="Arial" panose="020B0604020202020204" pitchFamily="34" charset="0"/>
              </a:rPr>
              <a:t> Through this architecture, the game facilitates consistent real-time communication and mitigates common issues such as desynchronization or host advantage. The development process also emphasized cross-platform compatibility and deploy ability on Linux-based Azure servers, validating how a dedicated server structure can be effectively integrated into modern multiplayer environments.</a:t>
            </a:r>
          </a:p>
        </p:txBody>
      </p:sp>
      <p:sp>
        <p:nvSpPr>
          <p:cNvPr id="15" name="직사각형 14">
            <a:extLst>
              <a:ext uri="{FF2B5EF4-FFF2-40B4-BE49-F238E27FC236}">
                <a16:creationId xmlns:a16="http://schemas.microsoft.com/office/drawing/2014/main" id="{3894DC3C-BAAE-2877-0E28-8D8DA7A425BE}"/>
              </a:ext>
            </a:extLst>
          </p:cNvPr>
          <p:cNvSpPr/>
          <p:nvPr/>
        </p:nvSpPr>
        <p:spPr>
          <a:xfrm>
            <a:off x="11037811" y="25907228"/>
            <a:ext cx="9723172" cy="1975794"/>
          </a:xfrm>
          <a:prstGeom prst="rect">
            <a:avLst/>
          </a:prstGeom>
        </p:spPr>
        <p:txBody>
          <a:bodyPr wrap="square" lIns="70735" tIns="35368" rIns="70735" bIns="35368">
            <a:spAutoFit/>
          </a:bodyPr>
          <a:lstStyle/>
          <a:p>
            <a:pPr marL="0" lvl="1">
              <a:lnSpc>
                <a:spcPct val="120000"/>
              </a:lnSpc>
            </a:pPr>
            <a:r>
              <a:rPr lang="en-US" altLang="ko-KR" sz="3390" b="1" dirty="0">
                <a:ln>
                  <a:solidFill>
                    <a:schemeClr val="accent1">
                      <a:alpha val="0"/>
                    </a:schemeClr>
                  </a:solidFill>
                </a:ln>
                <a:solidFill>
                  <a:schemeClr val="bg1"/>
                </a:solidFill>
                <a:latin typeface="나눔고딕 ExtraBold" pitchFamily="50" charset="-127"/>
                <a:ea typeface="나눔고딕 ExtraBold" pitchFamily="50" charset="-127"/>
              </a:rPr>
              <a:t>REFERENCES</a:t>
            </a:r>
          </a:p>
          <a:p>
            <a:pPr marL="362728" lvl="1" indent="-362728">
              <a:lnSpc>
                <a:spcPct val="120000"/>
              </a:lnSpc>
              <a:buAutoNum type="arabicPeriod"/>
            </a:pPr>
            <a:r>
              <a:rPr lang="en-US" altLang="ko-KR" sz="18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Unity Technologies, Unity Engine Manual. </a:t>
            </a:r>
          </a:p>
          <a:p>
            <a:pPr marL="362728" lvl="1" indent="-362728">
              <a:lnSpc>
                <a:spcPct val="120000"/>
              </a:lnSpc>
              <a:buAutoNum type="arabicPeriod"/>
            </a:pPr>
            <a:r>
              <a:rPr lang="en-US" altLang="ko-KR" sz="18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Mirror Networking, Official Mirror Documentation.</a:t>
            </a:r>
          </a:p>
          <a:p>
            <a:pPr marL="362728" lvl="1" indent="-362728">
              <a:lnSpc>
                <a:spcPct val="120000"/>
              </a:lnSpc>
              <a:buAutoNum type="arabicPeriod"/>
            </a:pPr>
            <a:r>
              <a:rPr lang="en-US" altLang="ko-KR" sz="18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Microsoft Azure, Azure Virtual Machines Documentation.</a:t>
            </a:r>
          </a:p>
          <a:p>
            <a:pPr marL="362728" lvl="1" indent="-362728">
              <a:lnSpc>
                <a:spcPct val="120000"/>
              </a:lnSpc>
              <a:buAutoNum type="arabicPeriod"/>
            </a:pPr>
            <a:r>
              <a:rPr lang="en-US" altLang="ko-KR" sz="18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Telepathy Transport for Mirror, GitHub Repository.</a:t>
            </a:r>
          </a:p>
        </p:txBody>
      </p:sp>
      <p:sp>
        <p:nvSpPr>
          <p:cNvPr id="16" name="직사각형 15">
            <a:extLst>
              <a:ext uri="{FF2B5EF4-FFF2-40B4-BE49-F238E27FC236}">
                <a16:creationId xmlns:a16="http://schemas.microsoft.com/office/drawing/2014/main" id="{14A8E569-8E4B-9151-4179-DD444B8B5A70}"/>
              </a:ext>
            </a:extLst>
          </p:cNvPr>
          <p:cNvSpPr/>
          <p:nvPr/>
        </p:nvSpPr>
        <p:spPr>
          <a:xfrm>
            <a:off x="10974082" y="6182442"/>
            <a:ext cx="9723173" cy="3338540"/>
          </a:xfrm>
          <a:prstGeom prst="rect">
            <a:avLst/>
          </a:prstGeom>
        </p:spPr>
        <p:txBody>
          <a:bodyPr wrap="square" lIns="70735" tIns="35368" rIns="70735" bIns="35368">
            <a:spAutoFit/>
          </a:bodyPr>
          <a:lstStyle/>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Achieved stable 4-player synchronization without desync or delay. Implemented dynamic room creation and removal based on player count. Integrated mission and spectate systems with synchronized result panels. Server-client separation improved network stability and security. When deployed on a Linux-based Azure virtual machine, the dedicated server maintained smooth performance even with three or more concurrent players, showing stable gameplay under real-world conditions. However, minor player flickering issues were occasionally observed during synchronization updates. Gained strong understanding of Mirror’s dedicated server workflow and debugging.</a:t>
            </a:r>
          </a:p>
        </p:txBody>
      </p:sp>
      <p:sp>
        <p:nvSpPr>
          <p:cNvPr id="17" name="모서리가 둥근 직사각형 81">
            <a:extLst>
              <a:ext uri="{FF2B5EF4-FFF2-40B4-BE49-F238E27FC236}">
                <a16:creationId xmlns:a16="http://schemas.microsoft.com/office/drawing/2014/main" id="{2141F1AA-2EDA-B789-8669-AB944F328CA7}"/>
              </a:ext>
            </a:extLst>
          </p:cNvPr>
          <p:cNvSpPr/>
          <p:nvPr/>
        </p:nvSpPr>
        <p:spPr>
          <a:xfrm>
            <a:off x="1678783" y="17779688"/>
            <a:ext cx="7748236" cy="507796"/>
          </a:xfrm>
          <a:prstGeom prst="roundRect">
            <a:avLst>
              <a:gd name="adj" fmla="val 50000"/>
            </a:avLst>
          </a:prstGeom>
          <a:blipFill>
            <a:blip r:embed="rId4"/>
            <a:stretch>
              <a:fillRect/>
            </a:stretch>
          </a:blipFill>
          <a:ln w="28575">
            <a:solidFill>
              <a:schemeClr val="bg1">
                <a:lumMod val="65000"/>
              </a:schemeClr>
            </a:solidFill>
          </a:ln>
          <a:effectLst/>
          <a:scene3d>
            <a:camera prst="orthographicFront"/>
            <a:lightRig rig="threePt" dir="t"/>
          </a:scene3d>
          <a:sp3d prstMaterial="matte"/>
        </p:spPr>
        <p:txBody>
          <a:bodyPr vert="horz" wrap="square" lIns="91213" tIns="45607" rIns="91213" bIns="45607" numCol="1" anchor="ctr" anchorCtr="0" compatLnSpc="1">
            <a:prstTxWarp prst="textNoShape">
              <a:avLst/>
            </a:prstTxWarp>
          </a:bodyPr>
          <a:lstStyle/>
          <a:p>
            <a:pPr algn="ctr" defTabSz="864943" fontAlgn="base">
              <a:spcBef>
                <a:spcPct val="0"/>
              </a:spcBef>
              <a:spcAft>
                <a:spcPct val="0"/>
              </a:spcAft>
            </a:pPr>
            <a:r>
              <a:rPr lang="en-US" altLang="ko-KR" sz="2800" b="1" spc="-49" dirty="0">
                <a:ln>
                  <a:solidFill>
                    <a:schemeClr val="bg1">
                      <a:lumMod val="50000"/>
                      <a:alpha val="0"/>
                    </a:schemeClr>
                  </a:solidFill>
                </a:ln>
                <a:latin typeface="나눔고딕" pitchFamily="50" charset="-127"/>
                <a:ea typeface="나눔고딕" pitchFamily="50" charset="-127"/>
                <a:cs typeface="Arial" pitchFamily="34" charset="0"/>
              </a:rPr>
              <a:t>Structure and presentation style</a:t>
            </a:r>
            <a:endParaRPr lang="ko-KR" altLang="en-US" sz="2800" b="1" spc="-49" dirty="0">
              <a:ln>
                <a:solidFill>
                  <a:schemeClr val="bg1">
                    <a:lumMod val="50000"/>
                    <a:alpha val="0"/>
                  </a:schemeClr>
                </a:solidFill>
              </a:ln>
              <a:latin typeface="나눔고딕" pitchFamily="50" charset="-127"/>
              <a:ea typeface="나눔고딕" pitchFamily="50" charset="-127"/>
              <a:cs typeface="Arial" pitchFamily="34" charset="0"/>
            </a:endParaRPr>
          </a:p>
        </p:txBody>
      </p:sp>
      <p:sp>
        <p:nvSpPr>
          <p:cNvPr id="28" name="직사각형 27">
            <a:extLst>
              <a:ext uri="{FF2B5EF4-FFF2-40B4-BE49-F238E27FC236}">
                <a16:creationId xmlns:a16="http://schemas.microsoft.com/office/drawing/2014/main" id="{8CCBED4B-3F59-7E71-3658-5C9B443CCC05}"/>
              </a:ext>
            </a:extLst>
          </p:cNvPr>
          <p:cNvSpPr/>
          <p:nvPr/>
        </p:nvSpPr>
        <p:spPr>
          <a:xfrm>
            <a:off x="686373" y="18614278"/>
            <a:ext cx="9578691" cy="1491880"/>
          </a:xfrm>
          <a:prstGeom prst="rect">
            <a:avLst/>
          </a:prstGeom>
        </p:spPr>
        <p:txBody>
          <a:bodyPr wrap="square" lIns="70735" tIns="35368" rIns="70735" bIns="35368">
            <a:spAutoFit/>
          </a:bodyPr>
          <a:lstStyle/>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The following diagram illustrates the evolution of the network architecture used in this project. It shows how the system transitioned from a basic peer-to-peer model to a dedicated server and finally to an Azure cloud deployment, improving stability, scalability, and fairness at each stage.</a:t>
            </a:r>
          </a:p>
        </p:txBody>
      </p:sp>
      <p:graphicFrame>
        <p:nvGraphicFramePr>
          <p:cNvPr id="30" name="표 29">
            <a:extLst>
              <a:ext uri="{FF2B5EF4-FFF2-40B4-BE49-F238E27FC236}">
                <a16:creationId xmlns:a16="http://schemas.microsoft.com/office/drawing/2014/main" id="{A2663F82-1092-9B0E-1032-FAE51798069C}"/>
              </a:ext>
            </a:extLst>
          </p:cNvPr>
          <p:cNvGraphicFramePr>
            <a:graphicFrameLocks noGrp="1"/>
          </p:cNvGraphicFramePr>
          <p:nvPr>
            <p:extLst>
              <p:ext uri="{D42A27DB-BD31-4B8C-83A1-F6EECF244321}">
                <p14:modId xmlns:p14="http://schemas.microsoft.com/office/powerpoint/2010/main" val="201739802"/>
              </p:ext>
            </p:extLst>
          </p:nvPr>
        </p:nvGraphicFramePr>
        <p:xfrm>
          <a:off x="10988585" y="14417526"/>
          <a:ext cx="9429711" cy="2869130"/>
        </p:xfrm>
        <a:graphic>
          <a:graphicData uri="http://schemas.openxmlformats.org/drawingml/2006/table">
            <a:tbl>
              <a:tblPr firstRow="1" bandRow="1">
                <a:tableStyleId>{5940675A-B579-460E-94D1-54222C63F5DA}</a:tableStyleId>
              </a:tblPr>
              <a:tblGrid>
                <a:gridCol w="3143237">
                  <a:extLst>
                    <a:ext uri="{9D8B030D-6E8A-4147-A177-3AD203B41FA5}">
                      <a16:colId xmlns:a16="http://schemas.microsoft.com/office/drawing/2014/main" val="20001"/>
                    </a:ext>
                  </a:extLst>
                </a:gridCol>
                <a:gridCol w="3143237">
                  <a:extLst>
                    <a:ext uri="{9D8B030D-6E8A-4147-A177-3AD203B41FA5}">
                      <a16:colId xmlns:a16="http://schemas.microsoft.com/office/drawing/2014/main" val="20002"/>
                    </a:ext>
                  </a:extLst>
                </a:gridCol>
                <a:gridCol w="3143237">
                  <a:extLst>
                    <a:ext uri="{9D8B030D-6E8A-4147-A177-3AD203B41FA5}">
                      <a16:colId xmlns:a16="http://schemas.microsoft.com/office/drawing/2014/main" val="20003"/>
                    </a:ext>
                  </a:extLst>
                </a:gridCol>
              </a:tblGrid>
              <a:tr h="573826">
                <a:tc>
                  <a:txBody>
                    <a:bodyPr/>
                    <a:lstStyle/>
                    <a:p>
                      <a:pPr algn="ctr" latinLnBrk="1">
                        <a:lnSpc>
                          <a:spcPct val="100000"/>
                        </a:lnSpc>
                      </a:pPr>
                      <a:r>
                        <a:rPr lang="en-US" altLang="ko-KR" sz="1600" b="1" kern="1200" spc="0" dirty="0">
                          <a:ln>
                            <a:solidFill>
                              <a:schemeClr val="accent1">
                                <a:shade val="50000"/>
                                <a:alpha val="0"/>
                              </a:schemeClr>
                            </a:solidFill>
                          </a:ln>
                          <a:solidFill>
                            <a:schemeClr val="bg1"/>
                          </a:solidFill>
                          <a:latin typeface="나눔고딕" pitchFamily="50" charset="-127"/>
                          <a:ea typeface="나눔고딕" pitchFamily="50" charset="-127"/>
                          <a:cs typeface="+mn-cs"/>
                        </a:rPr>
                        <a:t>Feature</a:t>
                      </a:r>
                      <a:endParaRPr lang="ko-KR" altLang="en-US" sz="1600" b="1" kern="1200" spc="0" dirty="0">
                        <a:ln>
                          <a:solidFill>
                            <a:schemeClr val="accent1">
                              <a:shade val="50000"/>
                              <a:alpha val="0"/>
                            </a:schemeClr>
                          </a:solidFill>
                        </a:ln>
                        <a:solidFill>
                          <a:schemeClr val="bg1"/>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B w="9525" cap="flat" cmpd="sng" algn="ctr">
                      <a:solidFill>
                        <a:schemeClr val="bg1">
                          <a:lumMod val="75000"/>
                        </a:schemeClr>
                      </a:solidFill>
                      <a:prstDash val="solid"/>
                      <a:round/>
                      <a:headEnd type="none" w="med" len="med"/>
                      <a:tailEnd type="none" w="med" len="med"/>
                    </a:lnB>
                    <a:solidFill>
                      <a:srgbClr val="215968"/>
                    </a:solidFill>
                  </a:tcPr>
                </a:tc>
                <a:tc>
                  <a:txBody>
                    <a:bodyPr/>
                    <a:lstStyle/>
                    <a:p>
                      <a:pPr algn="ctr" latinLnBrk="1">
                        <a:lnSpc>
                          <a:spcPct val="100000"/>
                        </a:lnSpc>
                      </a:pPr>
                      <a:r>
                        <a:rPr lang="en-US" altLang="ko-KR" sz="1600" b="1" kern="1200" spc="0" dirty="0">
                          <a:ln>
                            <a:solidFill>
                              <a:schemeClr val="accent1">
                                <a:shade val="50000"/>
                                <a:alpha val="0"/>
                              </a:schemeClr>
                            </a:solidFill>
                          </a:ln>
                          <a:solidFill>
                            <a:schemeClr val="bg1"/>
                          </a:solidFill>
                          <a:latin typeface="나눔고딕" pitchFamily="50" charset="-127"/>
                          <a:ea typeface="나눔고딕" pitchFamily="50" charset="-127"/>
                          <a:cs typeface="+mn-cs"/>
                        </a:rPr>
                        <a:t>Peer-to-Peer </a:t>
                      </a:r>
                      <a:endParaRPr lang="ko-KR" altLang="en-US" sz="1600" b="1" kern="1200" spc="0" dirty="0">
                        <a:ln>
                          <a:solidFill>
                            <a:schemeClr val="accent1">
                              <a:shade val="50000"/>
                              <a:alpha val="0"/>
                            </a:schemeClr>
                          </a:solidFill>
                        </a:ln>
                        <a:solidFill>
                          <a:schemeClr val="bg1"/>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B w="9525" cap="flat" cmpd="sng" algn="ctr">
                      <a:solidFill>
                        <a:schemeClr val="bg1">
                          <a:lumMod val="75000"/>
                        </a:schemeClr>
                      </a:solidFill>
                      <a:prstDash val="solid"/>
                      <a:round/>
                      <a:headEnd type="none" w="med" len="med"/>
                      <a:tailEnd type="none" w="med" len="med"/>
                    </a:lnB>
                    <a:solidFill>
                      <a:srgbClr val="215968"/>
                    </a:solidFill>
                  </a:tcPr>
                </a:tc>
                <a:tc>
                  <a:txBody>
                    <a:bodyPr/>
                    <a:lstStyle/>
                    <a:p>
                      <a:pPr algn="ctr" latinLnBrk="1">
                        <a:lnSpc>
                          <a:spcPct val="100000"/>
                        </a:lnSpc>
                      </a:pPr>
                      <a:r>
                        <a:rPr lang="en-US" altLang="ko-KR" sz="1600" b="1" kern="1200" spc="0" dirty="0">
                          <a:ln>
                            <a:solidFill>
                              <a:schemeClr val="accent1">
                                <a:shade val="50000"/>
                                <a:alpha val="0"/>
                              </a:schemeClr>
                            </a:solidFill>
                          </a:ln>
                          <a:solidFill>
                            <a:schemeClr val="bg1"/>
                          </a:solidFill>
                          <a:latin typeface="나눔고딕" pitchFamily="50" charset="-127"/>
                          <a:ea typeface="나눔고딕" pitchFamily="50" charset="-127"/>
                          <a:cs typeface="+mn-cs"/>
                        </a:rPr>
                        <a:t>Dedicated Server</a:t>
                      </a:r>
                      <a:endParaRPr lang="ko-KR" altLang="en-US" sz="1600" b="1" kern="1200" spc="0" dirty="0">
                        <a:ln>
                          <a:solidFill>
                            <a:schemeClr val="accent1">
                              <a:shade val="50000"/>
                              <a:alpha val="0"/>
                            </a:schemeClr>
                          </a:solidFill>
                        </a:ln>
                        <a:solidFill>
                          <a:schemeClr val="bg1"/>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B w="9525" cap="flat" cmpd="sng" algn="ctr">
                      <a:solidFill>
                        <a:schemeClr val="bg1">
                          <a:lumMod val="75000"/>
                        </a:schemeClr>
                      </a:solidFill>
                      <a:prstDash val="solid"/>
                      <a:round/>
                      <a:headEnd type="none" w="med" len="med"/>
                      <a:tailEnd type="none" w="med" len="med"/>
                    </a:lnB>
                    <a:solidFill>
                      <a:srgbClr val="215968"/>
                    </a:solidFill>
                  </a:tcPr>
                </a:tc>
                <a:extLst>
                  <a:ext uri="{0D108BD9-81ED-4DB2-BD59-A6C34878D82A}">
                    <a16:rowId xmlns:a16="http://schemas.microsoft.com/office/drawing/2014/main" val="10000"/>
                  </a:ext>
                </a:extLst>
              </a:tr>
              <a:tr h="573826">
                <a:tc>
                  <a:txBody>
                    <a:bodyPr/>
                    <a:lstStyle/>
                    <a:p>
                      <a:pPr algn="ctr" latinLnBrk="1">
                        <a:lnSpc>
                          <a:spcPct val="100000"/>
                        </a:lnSpc>
                      </a:pPr>
                      <a:r>
                        <a:rPr lang="en-US" altLang="ko-KR"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rPr>
                        <a:t>Stability</a:t>
                      </a:r>
                      <a:endParaRPr lang="ko-KR" altLang="en-US"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latinLnBrk="1">
                        <a:lnSpc>
                          <a:spcPct val="100000"/>
                        </a:lnSpc>
                      </a:pPr>
                      <a:r>
                        <a:rPr lang="en-US" altLang="ko-KR"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rPr>
                        <a:t>Medium</a:t>
                      </a:r>
                      <a:endParaRPr lang="ko-KR" altLang="en-US"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latinLnBrk="1">
                        <a:lnSpc>
                          <a:spcPct val="100000"/>
                        </a:lnSpc>
                      </a:pPr>
                      <a:r>
                        <a:rPr lang="en-US" altLang="ko-KR"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rPr>
                        <a:t>High</a:t>
                      </a:r>
                      <a:endParaRPr lang="ko-KR" altLang="en-US"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73826">
                <a:tc>
                  <a:txBody>
                    <a:bodyPr/>
                    <a:lstStyle/>
                    <a:p>
                      <a:pPr algn="ctr" latinLnBrk="1">
                        <a:lnSpc>
                          <a:spcPct val="100000"/>
                        </a:lnSpc>
                      </a:pPr>
                      <a:r>
                        <a:rPr lang="en-US" altLang="ko-KR"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rPr>
                        <a:t>Fairness</a:t>
                      </a:r>
                      <a:endParaRPr lang="ko-KR" altLang="en-US"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latinLnBrk="1">
                        <a:lnSpc>
                          <a:spcPct val="100000"/>
                        </a:lnSpc>
                      </a:pPr>
                      <a:r>
                        <a:rPr lang="en-US" altLang="ko-KR"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rPr>
                        <a:t>Low (host advantage)</a:t>
                      </a:r>
                      <a:endParaRPr lang="ko-KR" altLang="en-US"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latinLnBrk="1">
                        <a:lnSpc>
                          <a:spcPct val="100000"/>
                        </a:lnSpc>
                      </a:pPr>
                      <a:r>
                        <a:rPr lang="en-US" altLang="ko-KR"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rPr>
                        <a:t>High (neutral server)</a:t>
                      </a:r>
                      <a:endParaRPr lang="ko-KR" altLang="en-US"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573826">
                <a:tc>
                  <a:txBody>
                    <a:bodyPr/>
                    <a:lstStyle/>
                    <a:p>
                      <a:pPr algn="ctr" latinLnBrk="1">
                        <a:lnSpc>
                          <a:spcPct val="100000"/>
                        </a:lnSpc>
                      </a:pPr>
                      <a:r>
                        <a:rPr lang="en-US" altLang="ko-KR"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rPr>
                        <a:t>Scalability</a:t>
                      </a:r>
                      <a:endParaRPr lang="ko-KR" altLang="en-US"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latinLnBrk="1">
                        <a:lnSpc>
                          <a:spcPct val="100000"/>
                        </a:lnSpc>
                      </a:pPr>
                      <a:r>
                        <a:rPr lang="en-US" altLang="ko-KR"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rPr>
                        <a:t>Limited</a:t>
                      </a:r>
                      <a:endParaRPr lang="ko-KR" altLang="en-US"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latinLnBrk="1">
                        <a:lnSpc>
                          <a:spcPct val="100000"/>
                        </a:lnSpc>
                      </a:pPr>
                      <a:r>
                        <a:rPr lang="en-US" altLang="ko-KR"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rPr>
                        <a:t>Expandable</a:t>
                      </a:r>
                      <a:endParaRPr lang="ko-KR" altLang="en-US"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647507"/>
                  </a:ext>
                </a:extLst>
              </a:tr>
              <a:tr h="573826">
                <a:tc>
                  <a:txBody>
                    <a:bodyPr/>
                    <a:lstStyle/>
                    <a:p>
                      <a:pPr algn="ctr" latinLnBrk="1">
                        <a:lnSpc>
                          <a:spcPct val="100000"/>
                        </a:lnSpc>
                      </a:pPr>
                      <a:r>
                        <a:rPr lang="en-US" altLang="ko-KR"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rPr>
                        <a:t>Server Control</a:t>
                      </a:r>
                      <a:endParaRPr lang="ko-KR" altLang="en-US"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latinLnBrk="1">
                        <a:lnSpc>
                          <a:spcPct val="100000"/>
                        </a:lnSpc>
                      </a:pPr>
                      <a:r>
                        <a:rPr lang="en-US" altLang="ko-KR"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rPr>
                        <a:t>Client-based</a:t>
                      </a:r>
                      <a:endParaRPr lang="ko-KR" altLang="en-US"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tc>
                  <a:txBody>
                    <a:bodyPr/>
                    <a:lstStyle/>
                    <a:p>
                      <a:pPr algn="ctr" latinLnBrk="1">
                        <a:lnSpc>
                          <a:spcPct val="100000"/>
                        </a:lnSpc>
                      </a:pPr>
                      <a:r>
                        <a:rPr lang="en-US" altLang="ko-KR"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rPr>
                        <a:t>Centralized</a:t>
                      </a:r>
                      <a:endParaRPr lang="ko-KR" altLang="en-US" sz="1600" kern="1200" spc="0" dirty="0">
                        <a:ln>
                          <a:solidFill>
                            <a:schemeClr val="accent1">
                              <a:shade val="50000"/>
                              <a:alpha val="0"/>
                            </a:schemeClr>
                          </a:solidFill>
                        </a:ln>
                        <a:solidFill>
                          <a:schemeClr val="tx1">
                            <a:lumMod val="75000"/>
                            <a:lumOff val="25000"/>
                          </a:schemeClr>
                        </a:solidFill>
                        <a:latin typeface="나눔고딕" pitchFamily="50" charset="-127"/>
                        <a:ea typeface="나눔고딕" pitchFamily="50" charset="-127"/>
                        <a:cs typeface="+mn-cs"/>
                      </a:endParaRPr>
                    </a:p>
                  </a:txBody>
                  <a:tcPr marL="25385" marR="25385" marT="32239" marB="32239"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876238098"/>
                  </a:ext>
                </a:extLst>
              </a:tr>
            </a:tbl>
          </a:graphicData>
        </a:graphic>
      </p:graphicFrame>
      <p:sp>
        <p:nvSpPr>
          <p:cNvPr id="31" name="직사각형 30">
            <a:extLst>
              <a:ext uri="{FF2B5EF4-FFF2-40B4-BE49-F238E27FC236}">
                <a16:creationId xmlns:a16="http://schemas.microsoft.com/office/drawing/2014/main" id="{FA119006-0224-655F-A10B-F125A1B34DE3}"/>
              </a:ext>
            </a:extLst>
          </p:cNvPr>
          <p:cNvSpPr/>
          <p:nvPr/>
        </p:nvSpPr>
        <p:spPr>
          <a:xfrm>
            <a:off x="10988586" y="13553430"/>
            <a:ext cx="9314147" cy="8156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0388" tIns="15193" rIns="30388" bIns="15193" spcCol="0" rtlCol="0" anchor="ctr"/>
          <a:lstStyle/>
          <a:p>
            <a:pPr marL="0" lvl="1">
              <a:lnSpc>
                <a:spcPct val="107000"/>
              </a:lnSpc>
              <a:spcAft>
                <a:spcPts val="352"/>
              </a:spcAft>
            </a:pPr>
            <a:r>
              <a:rPr lang="en-US" altLang="ko-KR" sz="1800" b="1" spc="-10"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Table 1. Comparison of network architectures and performance in multiplayer environments.</a:t>
            </a:r>
          </a:p>
        </p:txBody>
      </p:sp>
      <p:grpSp>
        <p:nvGrpSpPr>
          <p:cNvPr id="229" name="그룹 228">
            <a:extLst>
              <a:ext uri="{FF2B5EF4-FFF2-40B4-BE49-F238E27FC236}">
                <a16:creationId xmlns:a16="http://schemas.microsoft.com/office/drawing/2014/main" id="{014317F9-CD56-B992-B190-F95998EC2C2B}"/>
              </a:ext>
            </a:extLst>
          </p:cNvPr>
          <p:cNvGrpSpPr/>
          <p:nvPr/>
        </p:nvGrpSpPr>
        <p:grpSpPr>
          <a:xfrm>
            <a:off x="738255" y="20513882"/>
            <a:ext cx="9386990" cy="2976652"/>
            <a:chOff x="3535477" y="2299974"/>
            <a:chExt cx="7869427" cy="4516684"/>
          </a:xfrm>
        </p:grpSpPr>
        <p:sp>
          <p:nvSpPr>
            <p:cNvPr id="230" name="직사각형 229">
              <a:extLst>
                <a:ext uri="{FF2B5EF4-FFF2-40B4-BE49-F238E27FC236}">
                  <a16:creationId xmlns:a16="http://schemas.microsoft.com/office/drawing/2014/main" id="{CD26231A-639C-3924-721F-B5D38334F9D7}"/>
                </a:ext>
              </a:extLst>
            </p:cNvPr>
            <p:cNvSpPr/>
            <p:nvPr/>
          </p:nvSpPr>
          <p:spPr>
            <a:xfrm>
              <a:off x="3535477" y="2299974"/>
              <a:ext cx="2372664" cy="4064250"/>
            </a:xfrm>
            <a:prstGeom prst="rect">
              <a:avLst/>
            </a:prstGeom>
            <a:solidFill>
              <a:srgbClr val="21596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199" dirty="0">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31" name="직사각형 230">
              <a:extLst>
                <a:ext uri="{FF2B5EF4-FFF2-40B4-BE49-F238E27FC236}">
                  <a16:creationId xmlns:a16="http://schemas.microsoft.com/office/drawing/2014/main" id="{54A68894-3D8C-BF5F-8DE3-75B30F8EE697}"/>
                </a:ext>
              </a:extLst>
            </p:cNvPr>
            <p:cNvSpPr/>
            <p:nvPr/>
          </p:nvSpPr>
          <p:spPr>
            <a:xfrm>
              <a:off x="6283858" y="2299974"/>
              <a:ext cx="2372664" cy="4064250"/>
            </a:xfrm>
            <a:prstGeom prst="rect">
              <a:avLst/>
            </a:prstGeom>
            <a:solidFill>
              <a:srgbClr val="21596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199" dirty="0">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32" name="직사각형 231">
              <a:extLst>
                <a:ext uri="{FF2B5EF4-FFF2-40B4-BE49-F238E27FC236}">
                  <a16:creationId xmlns:a16="http://schemas.microsoft.com/office/drawing/2014/main" id="{B052DEE4-FE5D-AF26-0112-B92382B3C621}"/>
                </a:ext>
              </a:extLst>
            </p:cNvPr>
            <p:cNvSpPr/>
            <p:nvPr/>
          </p:nvSpPr>
          <p:spPr>
            <a:xfrm>
              <a:off x="9032240" y="2299974"/>
              <a:ext cx="2372664" cy="4064250"/>
            </a:xfrm>
            <a:prstGeom prst="rect">
              <a:avLst/>
            </a:prstGeom>
            <a:solidFill>
              <a:srgbClr val="21596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0262" tIns="30130" rIns="60262" bIns="30130" numCol="1" spcCol="0" rtlCol="0" fromWordArt="0" anchor="ctr" anchorCtr="0" forceAA="0" compatLnSpc="1">
              <a:prstTxWarp prst="textNoShape">
                <a:avLst/>
              </a:prstTxWarp>
              <a:noAutofit/>
            </a:bodyPr>
            <a:lstStyle/>
            <a:p>
              <a:pPr algn="ctr"/>
              <a:endParaRPr lang="ko-KR" altLang="en-US" sz="1199" dirty="0">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33" name="직사각형 232">
              <a:extLst>
                <a:ext uri="{FF2B5EF4-FFF2-40B4-BE49-F238E27FC236}">
                  <a16:creationId xmlns:a16="http://schemas.microsoft.com/office/drawing/2014/main" id="{2DB2F7FD-0F57-F779-CF30-FAA2C84DFC51}"/>
                </a:ext>
              </a:extLst>
            </p:cNvPr>
            <p:cNvSpPr/>
            <p:nvPr/>
          </p:nvSpPr>
          <p:spPr>
            <a:xfrm>
              <a:off x="3665308" y="2616438"/>
              <a:ext cx="2202069" cy="1369413"/>
            </a:xfrm>
            <a:prstGeom prst="rect">
              <a:avLst/>
            </a:prstGeom>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lnSpc>
                  <a:spcPct val="114000"/>
                </a:lnSpc>
              </a:pPr>
              <a:r>
                <a:rPr lang="en-US" altLang="ko-KR" sz="1199"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(A) </a:t>
              </a:r>
            </a:p>
            <a:p>
              <a:pPr algn="ctr">
                <a:lnSpc>
                  <a:spcPct val="114000"/>
                </a:lnSpc>
              </a:pPr>
              <a:r>
                <a:rPr lang="en-US" altLang="ko-KR" sz="1199"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Peer-to-Peer Model Host acts as the server — unstable when host leaves.. </a:t>
              </a:r>
            </a:p>
          </p:txBody>
        </p:sp>
        <p:sp>
          <p:nvSpPr>
            <p:cNvPr id="234" name="직사각형 233">
              <a:extLst>
                <a:ext uri="{FF2B5EF4-FFF2-40B4-BE49-F238E27FC236}">
                  <a16:creationId xmlns:a16="http://schemas.microsoft.com/office/drawing/2014/main" id="{EAFEF434-CF24-C829-A5D4-B3CE23836B73}"/>
                </a:ext>
              </a:extLst>
            </p:cNvPr>
            <p:cNvSpPr/>
            <p:nvPr/>
          </p:nvSpPr>
          <p:spPr>
            <a:xfrm>
              <a:off x="6413691" y="2616438"/>
              <a:ext cx="2202069" cy="1369413"/>
            </a:xfrm>
            <a:prstGeom prst="rect">
              <a:avLst/>
            </a:prstGeom>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lnSpc>
                  <a:spcPct val="114000"/>
                </a:lnSpc>
              </a:pPr>
              <a:r>
                <a:rPr lang="en-US" altLang="ko-KR" sz="1199"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(B) </a:t>
              </a:r>
            </a:p>
            <a:p>
              <a:pPr algn="ctr">
                <a:lnSpc>
                  <a:spcPct val="114000"/>
                </a:lnSpc>
              </a:pPr>
              <a:r>
                <a:rPr lang="en-US" altLang="ko-KR" sz="1199"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Dedicated Server Model	Server manages syncs — stable and fair gameplay.</a:t>
              </a:r>
            </a:p>
          </p:txBody>
        </p:sp>
        <p:sp>
          <p:nvSpPr>
            <p:cNvPr id="235" name="직사각형 234">
              <a:extLst>
                <a:ext uri="{FF2B5EF4-FFF2-40B4-BE49-F238E27FC236}">
                  <a16:creationId xmlns:a16="http://schemas.microsoft.com/office/drawing/2014/main" id="{CFBE054A-EF43-B9B2-DB6C-083966F05228}"/>
                </a:ext>
              </a:extLst>
            </p:cNvPr>
            <p:cNvSpPr/>
            <p:nvPr/>
          </p:nvSpPr>
          <p:spPr>
            <a:xfrm>
              <a:off x="9162287" y="2616438"/>
              <a:ext cx="2202069" cy="1369413"/>
            </a:xfrm>
            <a:prstGeom prst="rect">
              <a:avLst/>
            </a:prstGeom>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lnSpc>
                  <a:spcPct val="114000"/>
                </a:lnSpc>
              </a:pPr>
              <a:r>
                <a:rPr lang="en-US" altLang="ko-KR" sz="1199"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(C) </a:t>
              </a:r>
            </a:p>
            <a:p>
              <a:pPr algn="ctr">
                <a:lnSpc>
                  <a:spcPct val="114000"/>
                </a:lnSpc>
              </a:pPr>
              <a:r>
                <a:rPr lang="en-US" altLang="ko-KR" sz="1199"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Azure VM Deployment Linux-based server runs smoothly with multiplayers.</a:t>
              </a:r>
            </a:p>
          </p:txBody>
        </p:sp>
        <p:grpSp>
          <p:nvGrpSpPr>
            <p:cNvPr id="236" name="그룹 235">
              <a:extLst>
                <a:ext uri="{FF2B5EF4-FFF2-40B4-BE49-F238E27FC236}">
                  <a16:creationId xmlns:a16="http://schemas.microsoft.com/office/drawing/2014/main" id="{1DC4CD89-EAAC-D567-2439-145CA04590AF}"/>
                </a:ext>
              </a:extLst>
            </p:cNvPr>
            <p:cNvGrpSpPr/>
            <p:nvPr/>
          </p:nvGrpSpPr>
          <p:grpSpPr>
            <a:xfrm>
              <a:off x="3744611" y="6396542"/>
              <a:ext cx="7530675" cy="420116"/>
              <a:chOff x="3744611" y="6396542"/>
              <a:chExt cx="7530675" cy="420116"/>
            </a:xfrm>
          </p:grpSpPr>
          <p:sp>
            <p:nvSpPr>
              <p:cNvPr id="240" name="TextBox 239">
                <a:extLst>
                  <a:ext uri="{FF2B5EF4-FFF2-40B4-BE49-F238E27FC236}">
                    <a16:creationId xmlns:a16="http://schemas.microsoft.com/office/drawing/2014/main" id="{38ED2E98-8175-F8AA-FD6C-636A78BD14FA}"/>
                  </a:ext>
                </a:extLst>
              </p:cNvPr>
              <p:cNvSpPr txBox="1"/>
              <p:nvPr/>
            </p:nvSpPr>
            <p:spPr>
              <a:xfrm>
                <a:off x="3744611" y="6396542"/>
                <a:ext cx="630442" cy="420116"/>
              </a:xfrm>
              <a:prstGeom prst="rect">
                <a:avLst/>
              </a:prstGeom>
              <a:noFill/>
            </p:spPr>
            <p:txBody>
              <a:bodyPr wrap="square">
                <a:spAutoFit/>
              </a:bodyPr>
              <a:lstStyle/>
              <a:p>
                <a:pPr algn="ctr"/>
                <a:r>
                  <a:rPr lang="en-US" altLang="ko-KR" sz="1199">
                    <a:ln>
                      <a:solidFill>
                        <a:schemeClr val="accent1">
                          <a:alpha val="0"/>
                        </a:schemeClr>
                      </a:solidFill>
                    </a:ln>
                    <a:solidFill>
                      <a:schemeClr val="tx1">
                        <a:lumMod val="95000"/>
                        <a:lumOff val="5000"/>
                      </a:schemeClr>
                    </a:solidFill>
                    <a:latin typeface="나눔고딕" panose="020D0604000000000000" pitchFamily="50" charset="-127"/>
                    <a:ea typeface="나눔고딕" panose="020D0604000000000000" pitchFamily="50" charset="-127"/>
                  </a:rPr>
                  <a:t>2025</a:t>
                </a:r>
                <a:endParaRPr lang="ko-KR" altLang="en-US" sz="1199">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41" name="TextBox 240">
                <a:extLst>
                  <a:ext uri="{FF2B5EF4-FFF2-40B4-BE49-F238E27FC236}">
                    <a16:creationId xmlns:a16="http://schemas.microsoft.com/office/drawing/2014/main" id="{BEC356A0-32EC-7E89-E0AE-AF89F951D895}"/>
                  </a:ext>
                </a:extLst>
              </p:cNvPr>
              <p:cNvSpPr txBox="1"/>
              <p:nvPr/>
            </p:nvSpPr>
            <p:spPr>
              <a:xfrm>
                <a:off x="4218282" y="6396542"/>
                <a:ext cx="630442" cy="420116"/>
              </a:xfrm>
              <a:prstGeom prst="rect">
                <a:avLst/>
              </a:prstGeom>
              <a:noFill/>
            </p:spPr>
            <p:txBody>
              <a:bodyPr wrap="square">
                <a:spAutoFit/>
              </a:bodyPr>
              <a:lstStyle/>
              <a:p>
                <a:pPr algn="ctr"/>
                <a:r>
                  <a:rPr lang="en-US" altLang="ko-KR" sz="1199">
                    <a:ln>
                      <a:solidFill>
                        <a:schemeClr val="accent1">
                          <a:alpha val="0"/>
                        </a:schemeClr>
                      </a:solidFill>
                    </a:ln>
                    <a:solidFill>
                      <a:schemeClr val="tx1">
                        <a:lumMod val="95000"/>
                        <a:lumOff val="5000"/>
                      </a:schemeClr>
                    </a:solidFill>
                    <a:latin typeface="나눔고딕" panose="020D0604000000000000" pitchFamily="50" charset="-127"/>
                    <a:ea typeface="나눔고딕" panose="020D0604000000000000" pitchFamily="50" charset="-127"/>
                  </a:rPr>
                  <a:t>2035</a:t>
                </a:r>
                <a:endParaRPr lang="ko-KR" altLang="en-US" sz="1199">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42" name="TextBox 241">
                <a:extLst>
                  <a:ext uri="{FF2B5EF4-FFF2-40B4-BE49-F238E27FC236}">
                    <a16:creationId xmlns:a16="http://schemas.microsoft.com/office/drawing/2014/main" id="{13825343-848A-7591-253B-9B90269914E5}"/>
                  </a:ext>
                </a:extLst>
              </p:cNvPr>
              <p:cNvSpPr txBox="1"/>
              <p:nvPr/>
            </p:nvSpPr>
            <p:spPr>
              <a:xfrm>
                <a:off x="4714495" y="6396542"/>
                <a:ext cx="630442" cy="420116"/>
              </a:xfrm>
              <a:prstGeom prst="rect">
                <a:avLst/>
              </a:prstGeom>
              <a:noFill/>
            </p:spPr>
            <p:txBody>
              <a:bodyPr wrap="square">
                <a:spAutoFit/>
              </a:bodyPr>
              <a:lstStyle/>
              <a:p>
                <a:pPr algn="ctr"/>
                <a:r>
                  <a:rPr lang="en-US" altLang="ko-KR" sz="1199">
                    <a:ln>
                      <a:solidFill>
                        <a:schemeClr val="accent1">
                          <a:alpha val="0"/>
                        </a:schemeClr>
                      </a:solidFill>
                    </a:ln>
                    <a:solidFill>
                      <a:schemeClr val="tx1">
                        <a:lumMod val="95000"/>
                        <a:lumOff val="5000"/>
                      </a:schemeClr>
                    </a:solidFill>
                    <a:latin typeface="나눔고딕" panose="020D0604000000000000" pitchFamily="50" charset="-127"/>
                    <a:ea typeface="나눔고딕" panose="020D0604000000000000" pitchFamily="50" charset="-127"/>
                  </a:rPr>
                  <a:t>2045</a:t>
                </a:r>
                <a:endParaRPr lang="ko-KR" altLang="en-US" sz="1199">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43" name="TextBox 242">
                <a:extLst>
                  <a:ext uri="{FF2B5EF4-FFF2-40B4-BE49-F238E27FC236}">
                    <a16:creationId xmlns:a16="http://schemas.microsoft.com/office/drawing/2014/main" id="{A4EC1A9B-B3AD-DDE1-1297-437AF9D12854}"/>
                  </a:ext>
                </a:extLst>
              </p:cNvPr>
              <p:cNvSpPr txBox="1"/>
              <p:nvPr/>
            </p:nvSpPr>
            <p:spPr>
              <a:xfrm>
                <a:off x="5163054" y="6396542"/>
                <a:ext cx="630442" cy="420116"/>
              </a:xfrm>
              <a:prstGeom prst="rect">
                <a:avLst/>
              </a:prstGeom>
              <a:noFill/>
            </p:spPr>
            <p:txBody>
              <a:bodyPr wrap="square">
                <a:spAutoFit/>
              </a:bodyPr>
              <a:lstStyle/>
              <a:p>
                <a:pPr algn="ctr"/>
                <a:r>
                  <a:rPr lang="en-US" altLang="ko-KR" sz="1199" dirty="0">
                    <a:ln>
                      <a:solidFill>
                        <a:schemeClr val="accent1">
                          <a:alpha val="0"/>
                        </a:schemeClr>
                      </a:solidFill>
                    </a:ln>
                    <a:solidFill>
                      <a:schemeClr val="tx1">
                        <a:lumMod val="95000"/>
                        <a:lumOff val="5000"/>
                      </a:schemeClr>
                    </a:solidFill>
                    <a:latin typeface="나눔고딕" panose="020D0604000000000000" pitchFamily="50" charset="-127"/>
                    <a:ea typeface="나눔고딕" panose="020D0604000000000000" pitchFamily="50" charset="-127"/>
                  </a:rPr>
                  <a:t>2055</a:t>
                </a:r>
                <a:endParaRPr lang="ko-KR" altLang="en-US" sz="1199" dirty="0">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44" name="TextBox 243">
                <a:extLst>
                  <a:ext uri="{FF2B5EF4-FFF2-40B4-BE49-F238E27FC236}">
                    <a16:creationId xmlns:a16="http://schemas.microsoft.com/office/drawing/2014/main" id="{BFDBD5D7-9103-5462-9297-DA2FFE9815CC}"/>
                  </a:ext>
                </a:extLst>
              </p:cNvPr>
              <p:cNvSpPr txBox="1"/>
              <p:nvPr/>
            </p:nvSpPr>
            <p:spPr>
              <a:xfrm>
                <a:off x="6469152" y="6396542"/>
                <a:ext cx="630442" cy="420116"/>
              </a:xfrm>
              <a:prstGeom prst="rect">
                <a:avLst/>
              </a:prstGeom>
              <a:noFill/>
            </p:spPr>
            <p:txBody>
              <a:bodyPr wrap="square">
                <a:spAutoFit/>
              </a:bodyPr>
              <a:lstStyle/>
              <a:p>
                <a:pPr algn="ctr"/>
                <a:r>
                  <a:rPr lang="en-US" altLang="ko-KR" sz="1199">
                    <a:ln>
                      <a:solidFill>
                        <a:schemeClr val="accent1">
                          <a:alpha val="0"/>
                        </a:schemeClr>
                      </a:solidFill>
                    </a:ln>
                    <a:solidFill>
                      <a:schemeClr val="tx1">
                        <a:lumMod val="95000"/>
                        <a:lumOff val="5000"/>
                      </a:schemeClr>
                    </a:solidFill>
                    <a:latin typeface="나눔고딕" panose="020D0604000000000000" pitchFamily="50" charset="-127"/>
                    <a:ea typeface="나눔고딕" panose="020D0604000000000000" pitchFamily="50" charset="-127"/>
                  </a:rPr>
                  <a:t>2025</a:t>
                </a:r>
                <a:endParaRPr lang="ko-KR" altLang="en-US" sz="1199">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45" name="TextBox 244">
                <a:extLst>
                  <a:ext uri="{FF2B5EF4-FFF2-40B4-BE49-F238E27FC236}">
                    <a16:creationId xmlns:a16="http://schemas.microsoft.com/office/drawing/2014/main" id="{A9BEFA07-416E-F9B0-CB46-89208A7B11CE}"/>
                  </a:ext>
                </a:extLst>
              </p:cNvPr>
              <p:cNvSpPr txBox="1"/>
              <p:nvPr/>
            </p:nvSpPr>
            <p:spPr>
              <a:xfrm>
                <a:off x="6942823" y="6396542"/>
                <a:ext cx="630442" cy="420116"/>
              </a:xfrm>
              <a:prstGeom prst="rect">
                <a:avLst/>
              </a:prstGeom>
              <a:noFill/>
            </p:spPr>
            <p:txBody>
              <a:bodyPr wrap="square">
                <a:spAutoFit/>
              </a:bodyPr>
              <a:lstStyle/>
              <a:p>
                <a:pPr algn="ctr"/>
                <a:r>
                  <a:rPr lang="en-US" altLang="ko-KR" sz="1199">
                    <a:ln>
                      <a:solidFill>
                        <a:schemeClr val="accent1">
                          <a:alpha val="0"/>
                        </a:schemeClr>
                      </a:solidFill>
                    </a:ln>
                    <a:solidFill>
                      <a:schemeClr val="tx1">
                        <a:lumMod val="95000"/>
                        <a:lumOff val="5000"/>
                      </a:schemeClr>
                    </a:solidFill>
                    <a:latin typeface="나눔고딕" panose="020D0604000000000000" pitchFamily="50" charset="-127"/>
                    <a:ea typeface="나눔고딕" panose="020D0604000000000000" pitchFamily="50" charset="-127"/>
                  </a:rPr>
                  <a:t>2035</a:t>
                </a:r>
                <a:endParaRPr lang="ko-KR" altLang="en-US" sz="1199">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46" name="TextBox 245">
                <a:extLst>
                  <a:ext uri="{FF2B5EF4-FFF2-40B4-BE49-F238E27FC236}">
                    <a16:creationId xmlns:a16="http://schemas.microsoft.com/office/drawing/2014/main" id="{719A2672-E1F5-4381-AD18-C34ABD7F712A}"/>
                  </a:ext>
                </a:extLst>
              </p:cNvPr>
              <p:cNvSpPr txBox="1"/>
              <p:nvPr/>
            </p:nvSpPr>
            <p:spPr>
              <a:xfrm>
                <a:off x="7439036" y="6396542"/>
                <a:ext cx="630442" cy="420116"/>
              </a:xfrm>
              <a:prstGeom prst="rect">
                <a:avLst/>
              </a:prstGeom>
              <a:noFill/>
            </p:spPr>
            <p:txBody>
              <a:bodyPr wrap="square">
                <a:spAutoFit/>
              </a:bodyPr>
              <a:lstStyle/>
              <a:p>
                <a:pPr algn="ctr"/>
                <a:r>
                  <a:rPr lang="en-US" altLang="ko-KR" sz="1199">
                    <a:ln>
                      <a:solidFill>
                        <a:schemeClr val="accent1">
                          <a:alpha val="0"/>
                        </a:schemeClr>
                      </a:solidFill>
                    </a:ln>
                    <a:solidFill>
                      <a:schemeClr val="tx1">
                        <a:lumMod val="95000"/>
                        <a:lumOff val="5000"/>
                      </a:schemeClr>
                    </a:solidFill>
                    <a:latin typeface="나눔고딕" panose="020D0604000000000000" pitchFamily="50" charset="-127"/>
                    <a:ea typeface="나눔고딕" panose="020D0604000000000000" pitchFamily="50" charset="-127"/>
                  </a:rPr>
                  <a:t>2045</a:t>
                </a:r>
                <a:endParaRPr lang="ko-KR" altLang="en-US" sz="1199">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47" name="TextBox 246">
                <a:extLst>
                  <a:ext uri="{FF2B5EF4-FFF2-40B4-BE49-F238E27FC236}">
                    <a16:creationId xmlns:a16="http://schemas.microsoft.com/office/drawing/2014/main" id="{1910BE76-811A-A224-5614-749F608E931A}"/>
                  </a:ext>
                </a:extLst>
              </p:cNvPr>
              <p:cNvSpPr txBox="1"/>
              <p:nvPr/>
            </p:nvSpPr>
            <p:spPr>
              <a:xfrm>
                <a:off x="7887595" y="6396542"/>
                <a:ext cx="630442" cy="420116"/>
              </a:xfrm>
              <a:prstGeom prst="rect">
                <a:avLst/>
              </a:prstGeom>
              <a:noFill/>
            </p:spPr>
            <p:txBody>
              <a:bodyPr wrap="square">
                <a:spAutoFit/>
              </a:bodyPr>
              <a:lstStyle/>
              <a:p>
                <a:pPr algn="ctr"/>
                <a:r>
                  <a:rPr lang="en-US" altLang="ko-KR" sz="1199">
                    <a:ln>
                      <a:solidFill>
                        <a:schemeClr val="accent1">
                          <a:alpha val="0"/>
                        </a:schemeClr>
                      </a:solidFill>
                    </a:ln>
                    <a:solidFill>
                      <a:schemeClr val="tx1">
                        <a:lumMod val="95000"/>
                        <a:lumOff val="5000"/>
                      </a:schemeClr>
                    </a:solidFill>
                    <a:latin typeface="나눔고딕" panose="020D0604000000000000" pitchFamily="50" charset="-127"/>
                    <a:ea typeface="나눔고딕" panose="020D0604000000000000" pitchFamily="50" charset="-127"/>
                  </a:rPr>
                  <a:t>2055</a:t>
                </a:r>
                <a:endParaRPr lang="ko-KR" altLang="en-US" sz="1199">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48" name="TextBox 247">
                <a:extLst>
                  <a:ext uri="{FF2B5EF4-FFF2-40B4-BE49-F238E27FC236}">
                    <a16:creationId xmlns:a16="http://schemas.microsoft.com/office/drawing/2014/main" id="{6C2F2D2A-59BA-20D9-C84E-76EA9FA96EBF}"/>
                  </a:ext>
                </a:extLst>
              </p:cNvPr>
              <p:cNvSpPr txBox="1"/>
              <p:nvPr/>
            </p:nvSpPr>
            <p:spPr>
              <a:xfrm>
                <a:off x="9226401" y="6396542"/>
                <a:ext cx="630442" cy="420116"/>
              </a:xfrm>
              <a:prstGeom prst="rect">
                <a:avLst/>
              </a:prstGeom>
              <a:noFill/>
            </p:spPr>
            <p:txBody>
              <a:bodyPr wrap="square">
                <a:spAutoFit/>
              </a:bodyPr>
              <a:lstStyle/>
              <a:p>
                <a:pPr algn="ctr"/>
                <a:r>
                  <a:rPr lang="en-US" altLang="ko-KR" sz="1199">
                    <a:ln>
                      <a:solidFill>
                        <a:schemeClr val="accent1">
                          <a:alpha val="0"/>
                        </a:schemeClr>
                      </a:solidFill>
                    </a:ln>
                    <a:solidFill>
                      <a:schemeClr val="tx1">
                        <a:lumMod val="95000"/>
                        <a:lumOff val="5000"/>
                      </a:schemeClr>
                    </a:solidFill>
                    <a:latin typeface="나눔고딕" panose="020D0604000000000000" pitchFamily="50" charset="-127"/>
                    <a:ea typeface="나눔고딕" panose="020D0604000000000000" pitchFamily="50" charset="-127"/>
                  </a:rPr>
                  <a:t>2025</a:t>
                </a:r>
                <a:endParaRPr lang="ko-KR" altLang="en-US" sz="1199">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49" name="TextBox 248">
                <a:extLst>
                  <a:ext uri="{FF2B5EF4-FFF2-40B4-BE49-F238E27FC236}">
                    <a16:creationId xmlns:a16="http://schemas.microsoft.com/office/drawing/2014/main" id="{44BF375C-81F4-B47B-B187-68397EDD00F8}"/>
                  </a:ext>
                </a:extLst>
              </p:cNvPr>
              <p:cNvSpPr txBox="1"/>
              <p:nvPr/>
            </p:nvSpPr>
            <p:spPr>
              <a:xfrm>
                <a:off x="9700072" y="6396542"/>
                <a:ext cx="630442" cy="420116"/>
              </a:xfrm>
              <a:prstGeom prst="rect">
                <a:avLst/>
              </a:prstGeom>
              <a:noFill/>
            </p:spPr>
            <p:txBody>
              <a:bodyPr wrap="square">
                <a:spAutoFit/>
              </a:bodyPr>
              <a:lstStyle/>
              <a:p>
                <a:pPr algn="ctr"/>
                <a:r>
                  <a:rPr lang="en-US" altLang="ko-KR" sz="1199">
                    <a:ln>
                      <a:solidFill>
                        <a:schemeClr val="accent1">
                          <a:alpha val="0"/>
                        </a:schemeClr>
                      </a:solidFill>
                    </a:ln>
                    <a:solidFill>
                      <a:schemeClr val="tx1">
                        <a:lumMod val="95000"/>
                        <a:lumOff val="5000"/>
                      </a:schemeClr>
                    </a:solidFill>
                    <a:latin typeface="나눔고딕" panose="020D0604000000000000" pitchFamily="50" charset="-127"/>
                    <a:ea typeface="나눔고딕" panose="020D0604000000000000" pitchFamily="50" charset="-127"/>
                  </a:rPr>
                  <a:t>2035</a:t>
                </a:r>
                <a:endParaRPr lang="ko-KR" altLang="en-US" sz="1199">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50" name="TextBox 249">
                <a:extLst>
                  <a:ext uri="{FF2B5EF4-FFF2-40B4-BE49-F238E27FC236}">
                    <a16:creationId xmlns:a16="http://schemas.microsoft.com/office/drawing/2014/main" id="{47C419BD-D344-6B15-50F8-26FAB6E25894}"/>
                  </a:ext>
                </a:extLst>
              </p:cNvPr>
              <p:cNvSpPr txBox="1"/>
              <p:nvPr/>
            </p:nvSpPr>
            <p:spPr>
              <a:xfrm>
                <a:off x="10196285" y="6396542"/>
                <a:ext cx="630442" cy="420116"/>
              </a:xfrm>
              <a:prstGeom prst="rect">
                <a:avLst/>
              </a:prstGeom>
              <a:noFill/>
            </p:spPr>
            <p:txBody>
              <a:bodyPr wrap="square">
                <a:spAutoFit/>
              </a:bodyPr>
              <a:lstStyle/>
              <a:p>
                <a:pPr algn="ctr"/>
                <a:r>
                  <a:rPr lang="en-US" altLang="ko-KR" sz="1199">
                    <a:ln>
                      <a:solidFill>
                        <a:schemeClr val="accent1">
                          <a:alpha val="0"/>
                        </a:schemeClr>
                      </a:solidFill>
                    </a:ln>
                    <a:solidFill>
                      <a:schemeClr val="tx1">
                        <a:lumMod val="95000"/>
                        <a:lumOff val="5000"/>
                      </a:schemeClr>
                    </a:solidFill>
                    <a:latin typeface="나눔고딕" panose="020D0604000000000000" pitchFamily="50" charset="-127"/>
                    <a:ea typeface="나눔고딕" panose="020D0604000000000000" pitchFamily="50" charset="-127"/>
                  </a:rPr>
                  <a:t>2045</a:t>
                </a:r>
                <a:endParaRPr lang="ko-KR" altLang="en-US" sz="1199">
                  <a:solidFill>
                    <a:schemeClr val="tx1">
                      <a:lumMod val="95000"/>
                      <a:lumOff val="5000"/>
                    </a:schemeClr>
                  </a:solidFill>
                  <a:latin typeface="나눔고딕" panose="020D0604000000000000" pitchFamily="50" charset="-127"/>
                  <a:ea typeface="나눔고딕" panose="020D0604000000000000" pitchFamily="50" charset="-127"/>
                </a:endParaRPr>
              </a:p>
            </p:txBody>
          </p:sp>
          <p:sp>
            <p:nvSpPr>
              <p:cNvPr id="251" name="TextBox 250">
                <a:extLst>
                  <a:ext uri="{FF2B5EF4-FFF2-40B4-BE49-F238E27FC236}">
                    <a16:creationId xmlns:a16="http://schemas.microsoft.com/office/drawing/2014/main" id="{5DB190D2-C13A-CD98-BD6E-622A1C3C06C9}"/>
                  </a:ext>
                </a:extLst>
              </p:cNvPr>
              <p:cNvSpPr txBox="1"/>
              <p:nvPr/>
            </p:nvSpPr>
            <p:spPr>
              <a:xfrm>
                <a:off x="10644844" y="6396542"/>
                <a:ext cx="630442" cy="420116"/>
              </a:xfrm>
              <a:prstGeom prst="rect">
                <a:avLst/>
              </a:prstGeom>
              <a:noFill/>
            </p:spPr>
            <p:txBody>
              <a:bodyPr wrap="square">
                <a:spAutoFit/>
              </a:bodyPr>
              <a:lstStyle/>
              <a:p>
                <a:pPr algn="ctr"/>
                <a:r>
                  <a:rPr lang="en-US" altLang="ko-KR" sz="1199">
                    <a:ln>
                      <a:solidFill>
                        <a:schemeClr val="accent1">
                          <a:alpha val="0"/>
                        </a:schemeClr>
                      </a:solidFill>
                    </a:ln>
                    <a:solidFill>
                      <a:schemeClr val="tx1">
                        <a:lumMod val="95000"/>
                        <a:lumOff val="5000"/>
                      </a:schemeClr>
                    </a:solidFill>
                    <a:latin typeface="나눔고딕" panose="020D0604000000000000" pitchFamily="50" charset="-127"/>
                    <a:ea typeface="나눔고딕" panose="020D0604000000000000" pitchFamily="50" charset="-127"/>
                  </a:rPr>
                  <a:t>2055</a:t>
                </a:r>
                <a:endParaRPr lang="ko-KR" altLang="en-US" sz="1199">
                  <a:solidFill>
                    <a:schemeClr val="tx1">
                      <a:lumMod val="95000"/>
                      <a:lumOff val="5000"/>
                    </a:schemeClr>
                  </a:solidFill>
                  <a:latin typeface="나눔고딕" panose="020D0604000000000000" pitchFamily="50" charset="-127"/>
                  <a:ea typeface="나눔고딕" panose="020D0604000000000000" pitchFamily="50" charset="-127"/>
                </a:endParaRPr>
              </a:p>
            </p:txBody>
          </p:sp>
        </p:grpSp>
      </p:grpSp>
      <p:sp>
        <p:nvSpPr>
          <p:cNvPr id="278" name="직사각형 277">
            <a:extLst>
              <a:ext uri="{FF2B5EF4-FFF2-40B4-BE49-F238E27FC236}">
                <a16:creationId xmlns:a16="http://schemas.microsoft.com/office/drawing/2014/main" id="{B4A76042-8D48-96C7-40B5-EA4AFC8D7146}"/>
              </a:ext>
            </a:extLst>
          </p:cNvPr>
          <p:cNvSpPr/>
          <p:nvPr/>
        </p:nvSpPr>
        <p:spPr>
          <a:xfrm>
            <a:off x="686238" y="23633019"/>
            <a:ext cx="7695601" cy="11536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0388" tIns="15193" rIns="30388" bIns="15193" spcCol="0" rtlCol="0" anchor="ctr"/>
          <a:lstStyle/>
          <a:p>
            <a:pPr marL="0" lvl="1">
              <a:lnSpc>
                <a:spcPct val="107000"/>
              </a:lnSpc>
              <a:spcAft>
                <a:spcPts val="352"/>
              </a:spcAft>
            </a:pPr>
            <a:r>
              <a:rPr lang="en-US" altLang="ko-KR" sz="1800" b="1" spc="-10"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Fig.1. Comparison of multiplayer network architectures and deployment performance. Each stage shows improvements in stability, fairness, and scalability, with the Azure-based dedicated server providing the most reliable performance during multiplayer testing.</a:t>
            </a:r>
          </a:p>
        </p:txBody>
      </p:sp>
      <p:sp>
        <p:nvSpPr>
          <p:cNvPr id="279" name="직사각형 278">
            <a:extLst>
              <a:ext uri="{FF2B5EF4-FFF2-40B4-BE49-F238E27FC236}">
                <a16:creationId xmlns:a16="http://schemas.microsoft.com/office/drawing/2014/main" id="{16B7D3A3-CF1E-E93D-336B-008C669E04FE}"/>
              </a:ext>
            </a:extLst>
          </p:cNvPr>
          <p:cNvSpPr/>
          <p:nvPr/>
        </p:nvSpPr>
        <p:spPr>
          <a:xfrm>
            <a:off x="686377" y="12340290"/>
            <a:ext cx="9723171" cy="1861212"/>
          </a:xfrm>
          <a:prstGeom prst="rect">
            <a:avLst/>
          </a:prstGeom>
        </p:spPr>
        <p:txBody>
          <a:bodyPr wrap="square" lIns="70735" tIns="35368" rIns="70735" bIns="35368">
            <a:spAutoFit/>
          </a:bodyPr>
          <a:lstStyle/>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Build a stable 4-player cooperative environment using a dedicated server structure.</a:t>
            </a:r>
          </a:p>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Implement real-time synchronization for movement, combat, and item systems.</a:t>
            </a:r>
          </a:p>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Develop matchmaking and room management for smooth session handling.</a:t>
            </a:r>
          </a:p>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Ensure server authority logic to prevent desync or client-side cheating.</a:t>
            </a:r>
          </a:p>
          <a:p>
            <a:pPr marL="0" lvl="1">
              <a:lnSpc>
                <a:spcPct val="120000"/>
              </a:lnSpc>
            </a:pPr>
            <a:endPar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endParaRPr>
          </a:p>
        </p:txBody>
      </p:sp>
      <p:sp>
        <p:nvSpPr>
          <p:cNvPr id="280" name="직사각형 279">
            <a:extLst>
              <a:ext uri="{FF2B5EF4-FFF2-40B4-BE49-F238E27FC236}">
                <a16:creationId xmlns:a16="http://schemas.microsoft.com/office/drawing/2014/main" id="{83EA64B3-16E8-0157-31B9-653B57B44993}"/>
              </a:ext>
            </a:extLst>
          </p:cNvPr>
          <p:cNvSpPr/>
          <p:nvPr/>
        </p:nvSpPr>
        <p:spPr>
          <a:xfrm>
            <a:off x="686377" y="15067302"/>
            <a:ext cx="9723171" cy="2230544"/>
          </a:xfrm>
          <a:prstGeom prst="rect">
            <a:avLst/>
          </a:prstGeom>
        </p:spPr>
        <p:txBody>
          <a:bodyPr wrap="square" lIns="70735" tIns="35368" rIns="70735" bIns="35368">
            <a:spAutoFit/>
          </a:bodyPr>
          <a:lstStyle/>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Engine / Network: </a:t>
            </a:r>
            <a:r>
              <a:rPr lang="en-US" altLang="ko-KR" sz="2000" spc="-15">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Unity 6 </a:t>
            </a: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 Mirror API</a:t>
            </a:r>
          </a:p>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Database: Firebase for user data</a:t>
            </a:r>
          </a:p>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Sync Mechanism: Sync Var, Target RPC, Network Transform (Reliable)</a:t>
            </a:r>
          </a:p>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Game Logic: Player Stats (HP, EXP, Level), Enemy Base (AI &amp; combat)</a:t>
            </a:r>
          </a:p>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UI: Room UI Manager (room info), Game UI (HUD &amp; player status)</a:t>
            </a:r>
          </a:p>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Hosting: Azure Linux VM + Telepathy / KCP </a:t>
            </a:r>
          </a:p>
        </p:txBody>
      </p:sp>
      <p:sp>
        <p:nvSpPr>
          <p:cNvPr id="281" name="직사각형 280">
            <a:extLst>
              <a:ext uri="{FF2B5EF4-FFF2-40B4-BE49-F238E27FC236}">
                <a16:creationId xmlns:a16="http://schemas.microsoft.com/office/drawing/2014/main" id="{4F2D793C-6F09-0797-FE9B-F1E3666BCA87}"/>
              </a:ext>
            </a:extLst>
          </p:cNvPr>
          <p:cNvSpPr/>
          <p:nvPr/>
        </p:nvSpPr>
        <p:spPr>
          <a:xfrm>
            <a:off x="10974084" y="18614278"/>
            <a:ext cx="9723173" cy="1491880"/>
          </a:xfrm>
          <a:prstGeom prst="rect">
            <a:avLst/>
          </a:prstGeom>
        </p:spPr>
        <p:txBody>
          <a:bodyPr wrap="square" lIns="70735" tIns="35368" rIns="70735" bIns="35368">
            <a:spAutoFit/>
          </a:bodyPr>
          <a:lstStyle/>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This project demonstrates the performance and reliability benefits of the dedicated-server architecture in Unity multiplayer environments.</a:t>
            </a:r>
          </a:p>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It achieved real-time synchronization, scalability, and improved fairness.</a:t>
            </a:r>
          </a:p>
          <a:p>
            <a:pPr marL="0" lvl="1">
              <a:lnSpc>
                <a:spcPct val="120000"/>
              </a:lnSpc>
            </a:pPr>
            <a:r>
              <a:rPr lang="en-US" altLang="ko-KR" sz="2000" spc="-15" dirty="0">
                <a:ln>
                  <a:solidFill>
                    <a:schemeClr val="accent1">
                      <a:alpha val="0"/>
                    </a:schemeClr>
                  </a:solidFill>
                </a:ln>
                <a:solidFill>
                  <a:schemeClr val="bg1"/>
                </a:solidFill>
                <a:latin typeface="나눔고딕" pitchFamily="50" charset="-127"/>
                <a:ea typeface="나눔고딕" pitchFamily="50" charset="-127"/>
                <a:cs typeface="Arial" panose="020B0604020202020204" pitchFamily="34" charset="0"/>
              </a:rPr>
              <a:t>Future work includes:</a:t>
            </a:r>
          </a:p>
        </p:txBody>
      </p:sp>
      <p:sp>
        <p:nvSpPr>
          <p:cNvPr id="283" name="사각형: 둥근 모서리 282">
            <a:extLst>
              <a:ext uri="{FF2B5EF4-FFF2-40B4-BE49-F238E27FC236}">
                <a16:creationId xmlns:a16="http://schemas.microsoft.com/office/drawing/2014/main" id="{1BB9E046-692C-0FBC-C641-5E7FED758EA7}"/>
              </a:ext>
            </a:extLst>
          </p:cNvPr>
          <p:cNvSpPr/>
          <p:nvPr/>
        </p:nvSpPr>
        <p:spPr>
          <a:xfrm>
            <a:off x="688578" y="5265168"/>
            <a:ext cx="9724290" cy="761695"/>
          </a:xfrm>
          <a:prstGeom prst="roundRect">
            <a:avLst>
              <a:gd name="adj" fmla="val 50000"/>
            </a:avLst>
          </a:prstGeom>
          <a:blipFill>
            <a:blip r:embed="rId5"/>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lIns="253897" rIns="253897" rtlCol="0" anchor="ctr"/>
          <a:lstStyle/>
          <a:p>
            <a:pPr defTabSz="2190186">
              <a:defRPr/>
            </a:pPr>
            <a:r>
              <a:rPr lang="en-US" altLang="ko-KR" sz="4300" b="1" dirty="0">
                <a:ln>
                  <a:solidFill>
                    <a:schemeClr val="accent1">
                      <a:alpha val="0"/>
                    </a:schemeClr>
                  </a:solidFill>
                </a:ln>
                <a:solidFill>
                  <a:schemeClr val="bg1"/>
                </a:solidFill>
                <a:latin typeface="나눔고딕 ExtraBold" pitchFamily="50" charset="-127"/>
                <a:ea typeface="나눔고딕 ExtraBold" pitchFamily="50" charset="-127"/>
              </a:rPr>
              <a:t> Background </a:t>
            </a:r>
          </a:p>
        </p:txBody>
      </p:sp>
      <p:sp>
        <p:nvSpPr>
          <p:cNvPr id="286" name="사각형: 둥근 모서리 285">
            <a:extLst>
              <a:ext uri="{FF2B5EF4-FFF2-40B4-BE49-F238E27FC236}">
                <a16:creationId xmlns:a16="http://schemas.microsoft.com/office/drawing/2014/main" id="{50F4F420-F5D2-5D8E-81C1-DA59CC503B5D}"/>
              </a:ext>
            </a:extLst>
          </p:cNvPr>
          <p:cNvSpPr/>
          <p:nvPr/>
        </p:nvSpPr>
        <p:spPr>
          <a:xfrm>
            <a:off x="688578" y="11495591"/>
            <a:ext cx="9724290" cy="761695"/>
          </a:xfrm>
          <a:prstGeom prst="roundRect">
            <a:avLst>
              <a:gd name="adj" fmla="val 50000"/>
            </a:avLst>
          </a:prstGeom>
          <a:blipFill>
            <a:blip r:embed="rId5"/>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lIns="253897" rIns="253897" rtlCol="0" anchor="ctr"/>
          <a:lstStyle/>
          <a:p>
            <a:pPr defTabSz="2190186"/>
            <a:r>
              <a:rPr lang="en-US" altLang="ko-KR" sz="4300" b="1" dirty="0">
                <a:ln>
                  <a:solidFill>
                    <a:schemeClr val="accent1">
                      <a:alpha val="0"/>
                    </a:schemeClr>
                  </a:solidFill>
                </a:ln>
                <a:solidFill>
                  <a:schemeClr val="bg1"/>
                </a:solidFill>
                <a:latin typeface="나눔고딕 ExtraBold" pitchFamily="50" charset="-127"/>
                <a:ea typeface="나눔고딕 ExtraBold" pitchFamily="50" charset="-127"/>
              </a:rPr>
              <a:t>Objectives </a:t>
            </a:r>
          </a:p>
        </p:txBody>
      </p:sp>
      <p:sp>
        <p:nvSpPr>
          <p:cNvPr id="289" name="사각형: 둥근 모서리 288">
            <a:extLst>
              <a:ext uri="{FF2B5EF4-FFF2-40B4-BE49-F238E27FC236}">
                <a16:creationId xmlns:a16="http://schemas.microsoft.com/office/drawing/2014/main" id="{F24C0BDD-D9DE-E9EC-6EE6-EE202DFE92FC}"/>
              </a:ext>
            </a:extLst>
          </p:cNvPr>
          <p:cNvSpPr/>
          <p:nvPr/>
        </p:nvSpPr>
        <p:spPr>
          <a:xfrm>
            <a:off x="688578" y="14159887"/>
            <a:ext cx="9724290" cy="761695"/>
          </a:xfrm>
          <a:prstGeom prst="roundRect">
            <a:avLst>
              <a:gd name="adj" fmla="val 50000"/>
            </a:avLst>
          </a:prstGeom>
          <a:blipFill>
            <a:blip r:embed="rId5"/>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lIns="253897" rIns="253897" rtlCol="0" anchor="ctr"/>
          <a:lstStyle/>
          <a:p>
            <a:pPr defTabSz="2190186"/>
            <a:r>
              <a:rPr lang="en-US" altLang="ko-KR" sz="4300" b="1">
                <a:ln>
                  <a:solidFill>
                    <a:schemeClr val="accent1">
                      <a:alpha val="0"/>
                    </a:schemeClr>
                  </a:solidFill>
                </a:ln>
                <a:solidFill>
                  <a:schemeClr val="bg1"/>
                </a:solidFill>
                <a:latin typeface="나눔고딕 ExtraBold" pitchFamily="50" charset="-127"/>
                <a:ea typeface="나눔고딕 ExtraBold" pitchFamily="50" charset="-127"/>
              </a:rPr>
              <a:t>Methods</a:t>
            </a:r>
          </a:p>
        </p:txBody>
      </p:sp>
      <p:sp>
        <p:nvSpPr>
          <p:cNvPr id="292" name="사각형: 둥근 모서리 291">
            <a:extLst>
              <a:ext uri="{FF2B5EF4-FFF2-40B4-BE49-F238E27FC236}">
                <a16:creationId xmlns:a16="http://schemas.microsoft.com/office/drawing/2014/main" id="{92D1E055-E015-2E7E-39EA-2D39F55767D8}"/>
              </a:ext>
            </a:extLst>
          </p:cNvPr>
          <p:cNvSpPr/>
          <p:nvPr/>
        </p:nvSpPr>
        <p:spPr>
          <a:xfrm>
            <a:off x="10978592" y="5265168"/>
            <a:ext cx="9724290" cy="761695"/>
          </a:xfrm>
          <a:prstGeom prst="roundRect">
            <a:avLst>
              <a:gd name="adj" fmla="val 50000"/>
            </a:avLst>
          </a:prstGeom>
          <a:blipFill>
            <a:blip r:embed="rId5"/>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lIns="253897" rIns="253897" rtlCol="0" anchor="ctr"/>
          <a:lstStyle/>
          <a:p>
            <a:pPr defTabSz="2190186"/>
            <a:r>
              <a:rPr lang="en-US" altLang="ko-KR" sz="4300" b="1">
                <a:ln>
                  <a:solidFill>
                    <a:schemeClr val="accent1">
                      <a:alpha val="0"/>
                    </a:schemeClr>
                  </a:solidFill>
                </a:ln>
                <a:solidFill>
                  <a:schemeClr val="bg1"/>
                </a:solidFill>
                <a:latin typeface="나눔고딕 ExtraBold" pitchFamily="50" charset="-127"/>
                <a:ea typeface="나눔고딕 ExtraBold" pitchFamily="50" charset="-127"/>
              </a:rPr>
              <a:t>Results</a:t>
            </a:r>
          </a:p>
        </p:txBody>
      </p:sp>
      <p:sp>
        <p:nvSpPr>
          <p:cNvPr id="295" name="사각형: 둥근 모서리 294">
            <a:extLst>
              <a:ext uri="{FF2B5EF4-FFF2-40B4-BE49-F238E27FC236}">
                <a16:creationId xmlns:a16="http://schemas.microsoft.com/office/drawing/2014/main" id="{ACE37420-0162-F0E6-CE78-A4AE92537AB0}"/>
              </a:ext>
            </a:extLst>
          </p:cNvPr>
          <p:cNvSpPr/>
          <p:nvPr/>
        </p:nvSpPr>
        <p:spPr>
          <a:xfrm>
            <a:off x="10978592" y="17657886"/>
            <a:ext cx="9724290" cy="761695"/>
          </a:xfrm>
          <a:prstGeom prst="roundRect">
            <a:avLst>
              <a:gd name="adj" fmla="val 50000"/>
            </a:avLst>
          </a:prstGeom>
          <a:blipFill>
            <a:blip r:embed="rId5"/>
            <a:stretch>
              <a:fillRect/>
            </a:stretch>
          </a:blipFill>
          <a:ln w="19050">
            <a:noFill/>
          </a:ln>
        </p:spPr>
        <p:style>
          <a:lnRef idx="2">
            <a:schemeClr val="accent1">
              <a:shade val="50000"/>
            </a:schemeClr>
          </a:lnRef>
          <a:fillRef idx="1">
            <a:schemeClr val="accent1"/>
          </a:fillRef>
          <a:effectRef idx="0">
            <a:schemeClr val="accent1"/>
          </a:effectRef>
          <a:fontRef idx="minor">
            <a:schemeClr val="lt1"/>
          </a:fontRef>
        </p:style>
        <p:txBody>
          <a:bodyPr lIns="253897" rIns="253897" rtlCol="0" anchor="ctr"/>
          <a:lstStyle/>
          <a:p>
            <a:pPr defTabSz="2190186"/>
            <a:r>
              <a:rPr lang="en-US" altLang="ko-KR" sz="4300" b="1" dirty="0">
                <a:ln>
                  <a:solidFill>
                    <a:schemeClr val="accent1">
                      <a:alpha val="0"/>
                    </a:schemeClr>
                  </a:solidFill>
                </a:ln>
                <a:solidFill>
                  <a:schemeClr val="bg1"/>
                </a:solidFill>
                <a:latin typeface="나눔고딕 ExtraBold" pitchFamily="50" charset="-127"/>
                <a:ea typeface="나눔고딕 ExtraBold" pitchFamily="50" charset="-127"/>
              </a:rPr>
              <a:t>Conclusions</a:t>
            </a:r>
          </a:p>
        </p:txBody>
      </p:sp>
      <p:grpSp>
        <p:nvGrpSpPr>
          <p:cNvPr id="11" name="그룹 10">
            <a:extLst>
              <a:ext uri="{FF2B5EF4-FFF2-40B4-BE49-F238E27FC236}">
                <a16:creationId xmlns:a16="http://schemas.microsoft.com/office/drawing/2014/main" id="{DB66160F-0113-2FC8-36E9-BF5D7350B505}"/>
              </a:ext>
            </a:extLst>
          </p:cNvPr>
          <p:cNvGrpSpPr/>
          <p:nvPr/>
        </p:nvGrpSpPr>
        <p:grpSpPr>
          <a:xfrm>
            <a:off x="11024250" y="20537723"/>
            <a:ext cx="9532658" cy="1172804"/>
            <a:chOff x="16740755" y="34342148"/>
            <a:chExt cx="14464226" cy="1779535"/>
          </a:xfrm>
          <a:solidFill>
            <a:schemeClr val="accent5">
              <a:lumMod val="50000"/>
            </a:schemeClr>
          </a:solidFill>
        </p:grpSpPr>
        <p:sp>
          <p:nvSpPr>
            <p:cNvPr id="12" name="직사각형 11">
              <a:extLst>
                <a:ext uri="{FF2B5EF4-FFF2-40B4-BE49-F238E27FC236}">
                  <a16:creationId xmlns:a16="http://schemas.microsoft.com/office/drawing/2014/main" id="{9FD17E5A-EFF7-A6DC-2056-819A006E7069}"/>
                </a:ext>
              </a:extLst>
            </p:cNvPr>
            <p:cNvSpPr/>
            <p:nvPr/>
          </p:nvSpPr>
          <p:spPr>
            <a:xfrm>
              <a:off x="16740755" y="34342148"/>
              <a:ext cx="14464226" cy="177953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spc="-40"/>
            </a:p>
          </p:txBody>
        </p:sp>
        <p:sp>
          <p:nvSpPr>
            <p:cNvPr id="13" name="모서리가 둥근 직사각형 81">
              <a:extLst>
                <a:ext uri="{FF2B5EF4-FFF2-40B4-BE49-F238E27FC236}">
                  <a16:creationId xmlns:a16="http://schemas.microsoft.com/office/drawing/2014/main" id="{DE421A57-E425-CF19-88BD-2188F05E9705}"/>
                </a:ext>
              </a:extLst>
            </p:cNvPr>
            <p:cNvSpPr/>
            <p:nvPr/>
          </p:nvSpPr>
          <p:spPr>
            <a:xfrm>
              <a:off x="16956255" y="34749067"/>
              <a:ext cx="897356" cy="872344"/>
            </a:xfrm>
            <a:prstGeom prst="roundRect">
              <a:avLst>
                <a:gd name="adj" fmla="val 16055"/>
              </a:avLst>
            </a:prstGeom>
            <a:solidFill>
              <a:schemeClr val="accent5"/>
            </a:solidFill>
            <a:ln w="28575">
              <a:noFill/>
            </a:ln>
            <a:effectLst/>
            <a:scene3d>
              <a:camera prst="orthographicFront"/>
              <a:lightRig rig="threePt" dir="t"/>
            </a:scene3d>
            <a:sp3d prstMaterial="matte"/>
          </p:spPr>
          <p:txBody>
            <a:bodyPr vert="horz" wrap="square" lIns="60810" tIns="30405" rIns="60810" bIns="30405" numCol="1" anchor="ctr" anchorCtr="0" compatLnSpc="1">
              <a:prstTxWarp prst="textNoShape">
                <a:avLst/>
              </a:prstTxWarp>
            </a:bodyPr>
            <a:lstStyle/>
            <a:p>
              <a:pPr algn="ctr" defTabSz="576690" fontAlgn="base">
                <a:spcBef>
                  <a:spcPct val="0"/>
                </a:spcBef>
                <a:spcAft>
                  <a:spcPct val="0"/>
                </a:spcAft>
              </a:pPr>
              <a:r>
                <a:rPr lang="en-US" altLang="ko-KR" sz="2000" b="1" spc="-40" dirty="0">
                  <a:ln>
                    <a:solidFill>
                      <a:schemeClr val="bg1">
                        <a:lumMod val="50000"/>
                        <a:alpha val="0"/>
                      </a:schemeClr>
                    </a:solidFill>
                  </a:ln>
                  <a:solidFill>
                    <a:schemeClr val="bg1"/>
                  </a:solidFill>
                  <a:latin typeface="나눔고딕" pitchFamily="50" charset="-127"/>
                  <a:ea typeface="나눔고딕" pitchFamily="50" charset="-127"/>
                  <a:cs typeface="Arial" pitchFamily="34" charset="0"/>
                </a:rPr>
                <a:t>01</a:t>
              </a:r>
              <a:endParaRPr lang="ko-KR" altLang="en-US" sz="2000" b="1" spc="-40" dirty="0">
                <a:ln>
                  <a:solidFill>
                    <a:schemeClr val="bg1">
                      <a:lumMod val="50000"/>
                      <a:alpha val="0"/>
                    </a:schemeClr>
                  </a:solidFill>
                </a:ln>
                <a:solidFill>
                  <a:schemeClr val="bg1"/>
                </a:solidFill>
                <a:latin typeface="나눔고딕" pitchFamily="50" charset="-127"/>
                <a:ea typeface="나눔고딕" pitchFamily="50" charset="-127"/>
                <a:cs typeface="Arial" pitchFamily="34" charset="0"/>
              </a:endParaRPr>
            </a:p>
          </p:txBody>
        </p:sp>
        <p:sp>
          <p:nvSpPr>
            <p:cNvPr id="18" name="직사각형 17">
              <a:extLst>
                <a:ext uri="{FF2B5EF4-FFF2-40B4-BE49-F238E27FC236}">
                  <a16:creationId xmlns:a16="http://schemas.microsoft.com/office/drawing/2014/main" id="{BDE0D46D-16A6-371C-B515-11F2BE1B425D}"/>
                </a:ext>
              </a:extLst>
            </p:cNvPr>
            <p:cNvSpPr/>
            <p:nvPr/>
          </p:nvSpPr>
          <p:spPr>
            <a:xfrm>
              <a:off x="17901182" y="34594195"/>
              <a:ext cx="13213038" cy="1168335"/>
            </a:xfrm>
            <a:prstGeom prst="rect">
              <a:avLst/>
            </a:prstGeom>
            <a:grpFill/>
          </p:spPr>
          <p:txBody>
            <a:bodyPr wrap="square" lIns="66712" tIns="33356" rIns="66712" bIns="33356">
              <a:spAutoFit/>
            </a:bodyPr>
            <a:lstStyle/>
            <a:p>
              <a:pPr marL="0" lvl="1" latinLnBrk="0">
                <a:lnSpc>
                  <a:spcPct val="120000"/>
                </a:lnSpc>
              </a:pPr>
              <a:r>
                <a:rPr lang="en-US" altLang="ko-KR" sz="2000" b="1" spc="-40"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Cross-region server deployment – Expanding the infrastructure to multiple geographic regions for lower latency and improved global connectivity.</a:t>
              </a:r>
            </a:p>
          </p:txBody>
        </p:sp>
      </p:grpSp>
      <p:grpSp>
        <p:nvGrpSpPr>
          <p:cNvPr id="19" name="그룹 18">
            <a:extLst>
              <a:ext uri="{FF2B5EF4-FFF2-40B4-BE49-F238E27FC236}">
                <a16:creationId xmlns:a16="http://schemas.microsoft.com/office/drawing/2014/main" id="{8B450E1D-D41B-7A68-3E7B-F43FDB125A1F}"/>
              </a:ext>
            </a:extLst>
          </p:cNvPr>
          <p:cNvGrpSpPr/>
          <p:nvPr/>
        </p:nvGrpSpPr>
        <p:grpSpPr>
          <a:xfrm>
            <a:off x="11007153" y="21838449"/>
            <a:ext cx="9532658" cy="1172803"/>
            <a:chOff x="16740755" y="36291223"/>
            <a:chExt cx="14464226" cy="1779535"/>
          </a:xfrm>
          <a:solidFill>
            <a:schemeClr val="accent5">
              <a:lumMod val="50000"/>
            </a:schemeClr>
          </a:solidFill>
        </p:grpSpPr>
        <p:sp>
          <p:nvSpPr>
            <p:cNvPr id="20" name="직사각형 19">
              <a:extLst>
                <a:ext uri="{FF2B5EF4-FFF2-40B4-BE49-F238E27FC236}">
                  <a16:creationId xmlns:a16="http://schemas.microsoft.com/office/drawing/2014/main" id="{64A3C25B-EA7C-7E03-B2C8-CFA680CD0763}"/>
                </a:ext>
              </a:extLst>
            </p:cNvPr>
            <p:cNvSpPr/>
            <p:nvPr/>
          </p:nvSpPr>
          <p:spPr>
            <a:xfrm>
              <a:off x="16740755" y="36291223"/>
              <a:ext cx="14464226" cy="177953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spc="-40" dirty="0"/>
            </a:p>
          </p:txBody>
        </p:sp>
        <p:sp>
          <p:nvSpPr>
            <p:cNvPr id="21" name="모서리가 둥근 직사각형 81">
              <a:extLst>
                <a:ext uri="{FF2B5EF4-FFF2-40B4-BE49-F238E27FC236}">
                  <a16:creationId xmlns:a16="http://schemas.microsoft.com/office/drawing/2014/main" id="{AD57B924-5C67-2573-2706-E9AF4FD864DD}"/>
                </a:ext>
              </a:extLst>
            </p:cNvPr>
            <p:cNvSpPr/>
            <p:nvPr/>
          </p:nvSpPr>
          <p:spPr>
            <a:xfrm>
              <a:off x="16956254" y="36744818"/>
              <a:ext cx="897356" cy="872343"/>
            </a:xfrm>
            <a:prstGeom prst="roundRect">
              <a:avLst>
                <a:gd name="adj" fmla="val 16055"/>
              </a:avLst>
            </a:prstGeom>
            <a:solidFill>
              <a:schemeClr val="accent5"/>
            </a:solidFill>
            <a:ln w="28575">
              <a:noFill/>
            </a:ln>
            <a:effectLst/>
            <a:scene3d>
              <a:camera prst="orthographicFront"/>
              <a:lightRig rig="threePt" dir="t"/>
            </a:scene3d>
            <a:sp3d prstMaterial="matte"/>
          </p:spPr>
          <p:txBody>
            <a:bodyPr vert="horz" wrap="square" lIns="60810" tIns="30405" rIns="60810" bIns="30405" numCol="1" anchor="ctr" anchorCtr="0" compatLnSpc="1">
              <a:prstTxWarp prst="textNoShape">
                <a:avLst/>
              </a:prstTxWarp>
            </a:bodyPr>
            <a:lstStyle/>
            <a:p>
              <a:pPr algn="ctr" defTabSz="576690" fontAlgn="base">
                <a:spcBef>
                  <a:spcPct val="0"/>
                </a:spcBef>
                <a:spcAft>
                  <a:spcPct val="0"/>
                </a:spcAft>
              </a:pPr>
              <a:r>
                <a:rPr lang="en-US" altLang="ko-KR" sz="2000" b="1" spc="-40" dirty="0">
                  <a:ln>
                    <a:solidFill>
                      <a:schemeClr val="bg1">
                        <a:lumMod val="50000"/>
                        <a:alpha val="0"/>
                      </a:schemeClr>
                    </a:solidFill>
                  </a:ln>
                  <a:solidFill>
                    <a:schemeClr val="bg1"/>
                  </a:solidFill>
                  <a:latin typeface="나눔고딕" pitchFamily="50" charset="-127"/>
                  <a:ea typeface="나눔고딕" pitchFamily="50" charset="-127"/>
                  <a:cs typeface="Arial" pitchFamily="34" charset="0"/>
                </a:rPr>
                <a:t>02</a:t>
              </a:r>
              <a:endParaRPr lang="ko-KR" altLang="en-US" sz="2000" b="1" spc="-40" dirty="0">
                <a:ln>
                  <a:solidFill>
                    <a:schemeClr val="bg1">
                      <a:lumMod val="50000"/>
                      <a:alpha val="0"/>
                    </a:schemeClr>
                  </a:solidFill>
                </a:ln>
                <a:solidFill>
                  <a:schemeClr val="bg1"/>
                </a:solidFill>
                <a:latin typeface="나눔고딕" pitchFamily="50" charset="-127"/>
                <a:ea typeface="나눔고딕" pitchFamily="50" charset="-127"/>
                <a:cs typeface="Arial" pitchFamily="34" charset="0"/>
              </a:endParaRPr>
            </a:p>
          </p:txBody>
        </p:sp>
        <p:sp>
          <p:nvSpPr>
            <p:cNvPr id="22" name="직사각형 21">
              <a:extLst>
                <a:ext uri="{FF2B5EF4-FFF2-40B4-BE49-F238E27FC236}">
                  <a16:creationId xmlns:a16="http://schemas.microsoft.com/office/drawing/2014/main" id="{47402812-4180-FCFC-FF25-69F2FCCF696A}"/>
                </a:ext>
              </a:extLst>
            </p:cNvPr>
            <p:cNvSpPr/>
            <p:nvPr/>
          </p:nvSpPr>
          <p:spPr>
            <a:xfrm>
              <a:off x="18033607" y="36593587"/>
              <a:ext cx="12783660" cy="1176314"/>
            </a:xfrm>
            <a:prstGeom prst="rect">
              <a:avLst/>
            </a:prstGeom>
            <a:grpFill/>
          </p:spPr>
          <p:txBody>
            <a:bodyPr wrap="square" lIns="66712" tIns="33356" rIns="66712" bIns="33356">
              <a:spAutoFit/>
            </a:bodyPr>
            <a:lstStyle/>
            <a:p>
              <a:pPr marL="0" lvl="1" latinLnBrk="0">
                <a:lnSpc>
                  <a:spcPct val="120000"/>
                </a:lnSpc>
              </a:pPr>
              <a:r>
                <a:rPr lang="en-US" altLang="ko-KR" sz="2000" b="1" spc="-40"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Additional game modes – Introducing competitive, cooperative, and survival modes to increase replay value and gameplay diversity.</a:t>
              </a:r>
            </a:p>
          </p:txBody>
        </p:sp>
      </p:grpSp>
      <p:grpSp>
        <p:nvGrpSpPr>
          <p:cNvPr id="23" name="그룹 22">
            <a:extLst>
              <a:ext uri="{FF2B5EF4-FFF2-40B4-BE49-F238E27FC236}">
                <a16:creationId xmlns:a16="http://schemas.microsoft.com/office/drawing/2014/main" id="{35AEB4D7-96D7-8603-CF6D-0B5F2F156A47}"/>
              </a:ext>
            </a:extLst>
          </p:cNvPr>
          <p:cNvGrpSpPr/>
          <p:nvPr/>
        </p:nvGrpSpPr>
        <p:grpSpPr>
          <a:xfrm>
            <a:off x="11007153" y="23139196"/>
            <a:ext cx="9532658" cy="1381322"/>
            <a:chOff x="16740755" y="38289466"/>
            <a:chExt cx="14464226" cy="1779535"/>
          </a:xfrm>
          <a:solidFill>
            <a:schemeClr val="accent5">
              <a:lumMod val="50000"/>
            </a:schemeClr>
          </a:solidFill>
        </p:grpSpPr>
        <p:sp>
          <p:nvSpPr>
            <p:cNvPr id="24" name="직사각형 23">
              <a:extLst>
                <a:ext uri="{FF2B5EF4-FFF2-40B4-BE49-F238E27FC236}">
                  <a16:creationId xmlns:a16="http://schemas.microsoft.com/office/drawing/2014/main" id="{6C83EB03-46B5-A4FA-70F5-AA95FE371569}"/>
                </a:ext>
              </a:extLst>
            </p:cNvPr>
            <p:cNvSpPr/>
            <p:nvPr/>
          </p:nvSpPr>
          <p:spPr>
            <a:xfrm>
              <a:off x="16740755" y="38289466"/>
              <a:ext cx="14464226" cy="177953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spc="-40" dirty="0"/>
            </a:p>
          </p:txBody>
        </p:sp>
        <p:sp>
          <p:nvSpPr>
            <p:cNvPr id="25" name="모서리가 둥근 직사각형 81">
              <a:extLst>
                <a:ext uri="{FF2B5EF4-FFF2-40B4-BE49-F238E27FC236}">
                  <a16:creationId xmlns:a16="http://schemas.microsoft.com/office/drawing/2014/main" id="{E96F90B1-8163-7DAF-7870-CF73068F2A67}"/>
                </a:ext>
              </a:extLst>
            </p:cNvPr>
            <p:cNvSpPr/>
            <p:nvPr/>
          </p:nvSpPr>
          <p:spPr>
            <a:xfrm>
              <a:off x="16956254" y="38743061"/>
              <a:ext cx="897356" cy="872343"/>
            </a:xfrm>
            <a:prstGeom prst="roundRect">
              <a:avLst>
                <a:gd name="adj" fmla="val 16055"/>
              </a:avLst>
            </a:prstGeom>
            <a:solidFill>
              <a:srgbClr val="4BACC6"/>
            </a:solidFill>
            <a:ln w="28575">
              <a:noFill/>
            </a:ln>
            <a:effectLst/>
            <a:scene3d>
              <a:camera prst="orthographicFront"/>
              <a:lightRig rig="threePt" dir="t"/>
            </a:scene3d>
            <a:sp3d prstMaterial="matte"/>
          </p:spPr>
          <p:txBody>
            <a:bodyPr vert="horz" wrap="square" lIns="60810" tIns="30405" rIns="60810" bIns="30405" numCol="1" anchor="ctr" anchorCtr="0" compatLnSpc="1">
              <a:prstTxWarp prst="textNoShape">
                <a:avLst/>
              </a:prstTxWarp>
            </a:bodyPr>
            <a:lstStyle/>
            <a:p>
              <a:pPr algn="ctr" defTabSz="576690" fontAlgn="base">
                <a:spcBef>
                  <a:spcPct val="0"/>
                </a:spcBef>
                <a:spcAft>
                  <a:spcPct val="0"/>
                </a:spcAft>
              </a:pPr>
              <a:r>
                <a:rPr lang="en-US" altLang="ko-KR" sz="2000" b="1" spc="-40" dirty="0">
                  <a:ln>
                    <a:solidFill>
                      <a:schemeClr val="bg1">
                        <a:lumMod val="50000"/>
                        <a:alpha val="0"/>
                      </a:schemeClr>
                    </a:solidFill>
                  </a:ln>
                  <a:solidFill>
                    <a:schemeClr val="bg1"/>
                  </a:solidFill>
                  <a:latin typeface="나눔고딕" pitchFamily="50" charset="-127"/>
                  <a:ea typeface="나눔고딕" pitchFamily="50" charset="-127"/>
                  <a:cs typeface="Arial" pitchFamily="34" charset="0"/>
                </a:rPr>
                <a:t>03</a:t>
              </a:r>
              <a:endParaRPr lang="ko-KR" altLang="en-US" sz="2000" b="1" spc="-40" dirty="0">
                <a:ln>
                  <a:solidFill>
                    <a:schemeClr val="bg1">
                      <a:lumMod val="50000"/>
                      <a:alpha val="0"/>
                    </a:schemeClr>
                  </a:solidFill>
                </a:ln>
                <a:solidFill>
                  <a:schemeClr val="bg1"/>
                </a:solidFill>
                <a:latin typeface="나눔고딕" pitchFamily="50" charset="-127"/>
                <a:ea typeface="나눔고딕" pitchFamily="50" charset="-127"/>
                <a:cs typeface="Arial" pitchFamily="34" charset="0"/>
              </a:endParaRPr>
            </a:p>
          </p:txBody>
        </p:sp>
        <p:sp>
          <p:nvSpPr>
            <p:cNvPr id="26" name="직사각형 25">
              <a:extLst>
                <a:ext uri="{FF2B5EF4-FFF2-40B4-BE49-F238E27FC236}">
                  <a16:creationId xmlns:a16="http://schemas.microsoft.com/office/drawing/2014/main" id="{988E0CE9-9FE3-1A43-765B-C22314F15110}"/>
                </a:ext>
              </a:extLst>
            </p:cNvPr>
            <p:cNvSpPr/>
            <p:nvPr/>
          </p:nvSpPr>
          <p:spPr>
            <a:xfrm>
              <a:off x="18014866" y="38311466"/>
              <a:ext cx="12783660" cy="1728735"/>
            </a:xfrm>
            <a:prstGeom prst="rect">
              <a:avLst/>
            </a:prstGeom>
            <a:grpFill/>
          </p:spPr>
          <p:txBody>
            <a:bodyPr wrap="square" lIns="66712" tIns="33356" rIns="66712" bIns="33356">
              <a:spAutoFit/>
            </a:bodyPr>
            <a:lstStyle/>
            <a:p>
              <a:pPr marL="0" lvl="1" latinLnBrk="0">
                <a:lnSpc>
                  <a:spcPct val="120000"/>
                </a:lnSpc>
              </a:pPr>
              <a:r>
                <a:rPr lang="en-US" altLang="ko-KR" sz="2000" b="1" spc="-40"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Multi-platform integration – Expanding client compatibility across PC, mobile, and console platforms to enable cross-play through unified account synchronization.</a:t>
              </a:r>
            </a:p>
          </p:txBody>
        </p:sp>
      </p:grpSp>
      <p:grpSp>
        <p:nvGrpSpPr>
          <p:cNvPr id="27" name="그룹 26">
            <a:extLst>
              <a:ext uri="{FF2B5EF4-FFF2-40B4-BE49-F238E27FC236}">
                <a16:creationId xmlns:a16="http://schemas.microsoft.com/office/drawing/2014/main" id="{1269F24C-A054-BFE1-E4FF-D222F6977788}"/>
              </a:ext>
            </a:extLst>
          </p:cNvPr>
          <p:cNvGrpSpPr/>
          <p:nvPr/>
        </p:nvGrpSpPr>
        <p:grpSpPr>
          <a:xfrm>
            <a:off x="11328978" y="9973656"/>
            <a:ext cx="1890841" cy="1419534"/>
            <a:chOff x="1535464" y="2452056"/>
            <a:chExt cx="1926570" cy="1446357"/>
          </a:xfrm>
        </p:grpSpPr>
        <p:grpSp>
          <p:nvGrpSpPr>
            <p:cNvPr id="35" name="그룹 34">
              <a:extLst>
                <a:ext uri="{FF2B5EF4-FFF2-40B4-BE49-F238E27FC236}">
                  <a16:creationId xmlns:a16="http://schemas.microsoft.com/office/drawing/2014/main" id="{49D9D60F-0D1B-CF7D-6890-24E5AC7CF378}"/>
                </a:ext>
              </a:extLst>
            </p:cNvPr>
            <p:cNvGrpSpPr/>
            <p:nvPr/>
          </p:nvGrpSpPr>
          <p:grpSpPr>
            <a:xfrm>
              <a:off x="1535464" y="2452056"/>
              <a:ext cx="1926570" cy="1446357"/>
              <a:chOff x="2369697" y="2033672"/>
              <a:chExt cx="2289627" cy="1718919"/>
            </a:xfrm>
            <a:solidFill>
              <a:schemeClr val="accent5">
                <a:alpha val="70000"/>
              </a:schemeClr>
            </a:solidFill>
          </p:grpSpPr>
          <p:sp>
            <p:nvSpPr>
              <p:cNvPr id="52" name="모서리가 둥근 직사각형 104">
                <a:extLst>
                  <a:ext uri="{FF2B5EF4-FFF2-40B4-BE49-F238E27FC236}">
                    <a16:creationId xmlns:a16="http://schemas.microsoft.com/office/drawing/2014/main" id="{0529EE93-B92A-0C77-BF35-F367ABB442C8}"/>
                  </a:ext>
                </a:extLst>
              </p:cNvPr>
              <p:cNvSpPr/>
              <p:nvPr/>
            </p:nvSpPr>
            <p:spPr>
              <a:xfrm rot="16200000" flipH="1" flipV="1">
                <a:off x="3186038" y="2077701"/>
                <a:ext cx="504056" cy="2136737"/>
              </a:xfrm>
              <a:prstGeom prst="roundRect">
                <a:avLst>
                  <a:gd name="adj" fmla="val 50000"/>
                </a:avLst>
              </a:prstGeom>
              <a:solidFill>
                <a:srgbClr val="1AA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600"/>
              </a:p>
            </p:txBody>
          </p:sp>
          <p:sp>
            <p:nvSpPr>
              <p:cNvPr id="53" name="모서리가 둥근 직사각형 105">
                <a:extLst>
                  <a:ext uri="{FF2B5EF4-FFF2-40B4-BE49-F238E27FC236}">
                    <a16:creationId xmlns:a16="http://schemas.microsoft.com/office/drawing/2014/main" id="{27B2DDC9-AC27-738C-C378-C5CF2DB74F9B}"/>
                  </a:ext>
                </a:extLst>
              </p:cNvPr>
              <p:cNvSpPr/>
              <p:nvPr/>
            </p:nvSpPr>
            <p:spPr>
              <a:xfrm rot="18900000">
                <a:off x="3651212" y="2033672"/>
                <a:ext cx="504056" cy="1512168"/>
              </a:xfrm>
              <a:prstGeom prst="roundRect">
                <a:avLst>
                  <a:gd name="adj" fmla="val 50000"/>
                </a:avLst>
              </a:prstGeom>
              <a:solidFill>
                <a:srgbClr val="1AA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600"/>
              </a:p>
            </p:txBody>
          </p:sp>
          <p:sp>
            <p:nvSpPr>
              <p:cNvPr id="54" name="모서리가 둥근 직사각형 106">
                <a:extLst>
                  <a:ext uri="{FF2B5EF4-FFF2-40B4-BE49-F238E27FC236}">
                    <a16:creationId xmlns:a16="http://schemas.microsoft.com/office/drawing/2014/main" id="{A7460D9F-F05C-3011-DFB4-69D62E2F1EED}"/>
                  </a:ext>
                </a:extLst>
              </p:cNvPr>
              <p:cNvSpPr/>
              <p:nvPr/>
            </p:nvSpPr>
            <p:spPr>
              <a:xfrm rot="2700000" flipV="1">
                <a:off x="3651212" y="2744479"/>
                <a:ext cx="504056" cy="1512168"/>
              </a:xfrm>
              <a:prstGeom prst="roundRect">
                <a:avLst>
                  <a:gd name="adj" fmla="val 50000"/>
                </a:avLst>
              </a:prstGeom>
              <a:solidFill>
                <a:srgbClr val="1AA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600" dirty="0"/>
              </a:p>
            </p:txBody>
          </p:sp>
        </p:grpSp>
        <p:sp>
          <p:nvSpPr>
            <p:cNvPr id="51" name="타원 50">
              <a:extLst>
                <a:ext uri="{FF2B5EF4-FFF2-40B4-BE49-F238E27FC236}">
                  <a16:creationId xmlns:a16="http://schemas.microsoft.com/office/drawing/2014/main" id="{D186B550-F737-F02F-FC3C-4ED5DED60960}"/>
                </a:ext>
              </a:extLst>
            </p:cNvPr>
            <p:cNvSpPr/>
            <p:nvPr/>
          </p:nvSpPr>
          <p:spPr>
            <a:xfrm>
              <a:off x="2973280" y="3221766"/>
              <a:ext cx="310206" cy="3102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a:ln>
                    <a:solidFill>
                      <a:schemeClr val="accent1">
                        <a:shade val="50000"/>
                        <a:alpha val="0"/>
                      </a:schemeClr>
                    </a:solidFill>
                  </a:ln>
                  <a:solidFill>
                    <a:schemeClr val="tx1">
                      <a:lumMod val="85000"/>
                      <a:lumOff val="15000"/>
                    </a:schemeClr>
                  </a:solidFill>
                  <a:latin typeface="나눔고딕" pitchFamily="50" charset="-127"/>
                  <a:ea typeface="나눔고딕" pitchFamily="50" charset="-127"/>
                </a:rPr>
                <a:t>1</a:t>
              </a:r>
              <a:endParaRPr lang="ko-KR" altLang="en-US" sz="1400" b="1">
                <a:ln>
                  <a:solidFill>
                    <a:schemeClr val="accent1">
                      <a:shade val="50000"/>
                      <a:alpha val="0"/>
                    </a:schemeClr>
                  </a:solidFill>
                </a:ln>
                <a:solidFill>
                  <a:schemeClr val="tx1">
                    <a:lumMod val="85000"/>
                    <a:lumOff val="15000"/>
                  </a:schemeClr>
                </a:solidFill>
                <a:latin typeface="나눔고딕" pitchFamily="50" charset="-127"/>
                <a:ea typeface="나눔고딕" pitchFamily="50" charset="-127"/>
              </a:endParaRPr>
            </a:p>
          </p:txBody>
        </p:sp>
      </p:grpSp>
      <p:grpSp>
        <p:nvGrpSpPr>
          <p:cNvPr id="55" name="그룹 54">
            <a:extLst>
              <a:ext uri="{FF2B5EF4-FFF2-40B4-BE49-F238E27FC236}">
                <a16:creationId xmlns:a16="http://schemas.microsoft.com/office/drawing/2014/main" id="{F89E87F7-C896-A17B-4E0D-ACAED8BD6D2D}"/>
              </a:ext>
            </a:extLst>
          </p:cNvPr>
          <p:cNvGrpSpPr/>
          <p:nvPr/>
        </p:nvGrpSpPr>
        <p:grpSpPr>
          <a:xfrm>
            <a:off x="11268338" y="12129607"/>
            <a:ext cx="9283608" cy="1158739"/>
            <a:chOff x="705498" y="4899640"/>
            <a:chExt cx="9459029" cy="1180635"/>
          </a:xfrm>
        </p:grpSpPr>
        <p:sp>
          <p:nvSpPr>
            <p:cNvPr id="56" name="직사각형 55">
              <a:extLst>
                <a:ext uri="{FF2B5EF4-FFF2-40B4-BE49-F238E27FC236}">
                  <a16:creationId xmlns:a16="http://schemas.microsoft.com/office/drawing/2014/main" id="{6E1306BC-3447-6E2E-0E26-2AE52A4D3CAA}"/>
                </a:ext>
              </a:extLst>
            </p:cNvPr>
            <p:cNvSpPr/>
            <p:nvPr/>
          </p:nvSpPr>
          <p:spPr>
            <a:xfrm>
              <a:off x="705498" y="5210839"/>
              <a:ext cx="2050141" cy="869435"/>
            </a:xfrm>
            <a:prstGeom prst="rect">
              <a:avLst/>
            </a:prstGeom>
          </p:spPr>
          <p:txBody>
            <a:bodyPr wrap="square" anchor="t">
              <a:spAutoFit/>
            </a:bodyPr>
            <a:lstStyle/>
            <a:p>
              <a:pPr algn="ctr">
                <a:lnSpc>
                  <a:spcPct val="120000"/>
                </a:lnSpc>
              </a:pPr>
              <a:r>
                <a:rPr lang="en-US" altLang="ko-KR" sz="1400"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Connects to dedicated server and starts session.</a:t>
              </a:r>
            </a:p>
          </p:txBody>
        </p:sp>
        <p:sp>
          <p:nvSpPr>
            <p:cNvPr id="57" name="직사각형 56">
              <a:extLst>
                <a:ext uri="{FF2B5EF4-FFF2-40B4-BE49-F238E27FC236}">
                  <a16:creationId xmlns:a16="http://schemas.microsoft.com/office/drawing/2014/main" id="{6C9C408D-EDA8-9F31-CF58-3894B264E0A6}"/>
                </a:ext>
              </a:extLst>
            </p:cNvPr>
            <p:cNvSpPr/>
            <p:nvPr/>
          </p:nvSpPr>
          <p:spPr>
            <a:xfrm>
              <a:off x="896611" y="4899640"/>
              <a:ext cx="1667919" cy="344951"/>
            </a:xfrm>
            <a:prstGeom prst="rect">
              <a:avLst/>
            </a:prstGeom>
          </p:spPr>
          <p:txBody>
            <a:bodyPr wrap="none">
              <a:spAutoFit/>
            </a:bodyPr>
            <a:lstStyle/>
            <a:p>
              <a:pPr algn="ctr"/>
              <a:r>
                <a:rPr lang="en-US" altLang="ko-KR" sz="1600" b="1"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Client connects</a:t>
              </a:r>
              <a:endParaRPr lang="ko-KR" altLang="en-US" sz="1600" b="1" dirty="0">
                <a:solidFill>
                  <a:schemeClr val="bg1"/>
                </a:solidFill>
              </a:endParaRPr>
            </a:p>
          </p:txBody>
        </p:sp>
        <p:sp>
          <p:nvSpPr>
            <p:cNvPr id="97" name="직사각형 96">
              <a:extLst>
                <a:ext uri="{FF2B5EF4-FFF2-40B4-BE49-F238E27FC236}">
                  <a16:creationId xmlns:a16="http://schemas.microsoft.com/office/drawing/2014/main" id="{E77948B0-644C-5F39-327E-FB62DB118DC5}"/>
                </a:ext>
              </a:extLst>
            </p:cNvPr>
            <p:cNvSpPr/>
            <p:nvPr/>
          </p:nvSpPr>
          <p:spPr>
            <a:xfrm>
              <a:off x="3107759" y="5210839"/>
              <a:ext cx="2050141" cy="580343"/>
            </a:xfrm>
            <a:prstGeom prst="rect">
              <a:avLst/>
            </a:prstGeom>
          </p:spPr>
          <p:txBody>
            <a:bodyPr wrap="square" anchor="t">
              <a:spAutoFit/>
            </a:bodyPr>
            <a:lstStyle/>
            <a:p>
              <a:pPr algn="ctr">
                <a:lnSpc>
                  <a:spcPct val="120000"/>
                </a:lnSpc>
              </a:pPr>
              <a:r>
                <a:rPr lang="en-US" altLang="ko-KR" sz="1400"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Requests available rooms from the server.</a:t>
              </a:r>
            </a:p>
          </p:txBody>
        </p:sp>
        <p:sp>
          <p:nvSpPr>
            <p:cNvPr id="98" name="직사각형 97">
              <a:extLst>
                <a:ext uri="{FF2B5EF4-FFF2-40B4-BE49-F238E27FC236}">
                  <a16:creationId xmlns:a16="http://schemas.microsoft.com/office/drawing/2014/main" id="{FC175156-7562-9A40-9B36-F665DC59EE4F}"/>
                </a:ext>
              </a:extLst>
            </p:cNvPr>
            <p:cNvSpPr/>
            <p:nvPr/>
          </p:nvSpPr>
          <p:spPr>
            <a:xfrm>
              <a:off x="3176376" y="4899640"/>
              <a:ext cx="1912914" cy="344951"/>
            </a:xfrm>
            <a:prstGeom prst="rect">
              <a:avLst/>
            </a:prstGeom>
          </p:spPr>
          <p:txBody>
            <a:bodyPr wrap="none">
              <a:spAutoFit/>
            </a:bodyPr>
            <a:lstStyle/>
            <a:p>
              <a:pPr algn="ctr"/>
              <a:r>
                <a:rPr lang="en-US" altLang="ko-KR" sz="1600" b="1"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Match list request</a:t>
              </a:r>
            </a:p>
          </p:txBody>
        </p:sp>
        <p:sp>
          <p:nvSpPr>
            <p:cNvPr id="99" name="직사각형 98">
              <a:extLst>
                <a:ext uri="{FF2B5EF4-FFF2-40B4-BE49-F238E27FC236}">
                  <a16:creationId xmlns:a16="http://schemas.microsoft.com/office/drawing/2014/main" id="{9570E458-47D9-FA9C-2927-EC2179D82B14}"/>
                </a:ext>
              </a:extLst>
            </p:cNvPr>
            <p:cNvSpPr/>
            <p:nvPr/>
          </p:nvSpPr>
          <p:spPr>
            <a:xfrm>
              <a:off x="5623994" y="5210839"/>
              <a:ext cx="2050141" cy="580343"/>
            </a:xfrm>
            <a:prstGeom prst="rect">
              <a:avLst/>
            </a:prstGeom>
          </p:spPr>
          <p:txBody>
            <a:bodyPr wrap="square" anchor="t">
              <a:spAutoFit/>
            </a:bodyPr>
            <a:lstStyle/>
            <a:p>
              <a:pPr algn="ctr">
                <a:lnSpc>
                  <a:spcPct val="120000"/>
                </a:lnSpc>
              </a:pPr>
              <a:r>
                <a:rPr lang="en-US" altLang="ko-KR" sz="1400"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Creates or joins a 4-player match room.</a:t>
              </a:r>
            </a:p>
          </p:txBody>
        </p:sp>
        <p:sp>
          <p:nvSpPr>
            <p:cNvPr id="101" name="직사각형 100">
              <a:extLst>
                <a:ext uri="{FF2B5EF4-FFF2-40B4-BE49-F238E27FC236}">
                  <a16:creationId xmlns:a16="http://schemas.microsoft.com/office/drawing/2014/main" id="{F4AA3714-A4CD-F6B2-80E5-1DDD108F9B81}"/>
                </a:ext>
              </a:extLst>
            </p:cNvPr>
            <p:cNvSpPr/>
            <p:nvPr/>
          </p:nvSpPr>
          <p:spPr>
            <a:xfrm>
              <a:off x="5566846" y="4899640"/>
              <a:ext cx="2164439" cy="344951"/>
            </a:xfrm>
            <a:prstGeom prst="rect">
              <a:avLst/>
            </a:prstGeom>
          </p:spPr>
          <p:txBody>
            <a:bodyPr wrap="none">
              <a:spAutoFit/>
            </a:bodyPr>
            <a:lstStyle/>
            <a:p>
              <a:pPr algn="ctr"/>
              <a:r>
                <a:rPr lang="en-US" altLang="ko-KR" sz="1600" b="1"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 Room creation/join </a:t>
              </a:r>
            </a:p>
          </p:txBody>
        </p:sp>
        <p:sp>
          <p:nvSpPr>
            <p:cNvPr id="102" name="직사각형 101">
              <a:extLst>
                <a:ext uri="{FF2B5EF4-FFF2-40B4-BE49-F238E27FC236}">
                  <a16:creationId xmlns:a16="http://schemas.microsoft.com/office/drawing/2014/main" id="{127C21FD-EFEC-F670-2282-64CE1E6DBA3A}"/>
                </a:ext>
              </a:extLst>
            </p:cNvPr>
            <p:cNvSpPr/>
            <p:nvPr/>
          </p:nvSpPr>
          <p:spPr>
            <a:xfrm>
              <a:off x="8114386" y="5210839"/>
              <a:ext cx="2050141" cy="869436"/>
            </a:xfrm>
            <a:prstGeom prst="rect">
              <a:avLst/>
            </a:prstGeom>
          </p:spPr>
          <p:txBody>
            <a:bodyPr wrap="square" anchor="t">
              <a:spAutoFit/>
            </a:bodyPr>
            <a:lstStyle/>
            <a:p>
              <a:pPr algn="ctr">
                <a:lnSpc>
                  <a:spcPct val="120000"/>
                </a:lnSpc>
              </a:pPr>
              <a:r>
                <a:rPr lang="en-US" altLang="ko-KR" sz="1400"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Syncs all player and monster data in real time.</a:t>
              </a:r>
            </a:p>
          </p:txBody>
        </p:sp>
        <p:sp>
          <p:nvSpPr>
            <p:cNvPr id="103" name="직사각형 102">
              <a:extLst>
                <a:ext uri="{FF2B5EF4-FFF2-40B4-BE49-F238E27FC236}">
                  <a16:creationId xmlns:a16="http://schemas.microsoft.com/office/drawing/2014/main" id="{8E863C9D-0B3A-0F4F-029B-7CAF65569FE8}"/>
                </a:ext>
              </a:extLst>
            </p:cNvPr>
            <p:cNvSpPr/>
            <p:nvPr/>
          </p:nvSpPr>
          <p:spPr>
            <a:xfrm>
              <a:off x="8512111" y="4899640"/>
              <a:ext cx="1254696" cy="344951"/>
            </a:xfrm>
            <a:prstGeom prst="rect">
              <a:avLst/>
            </a:prstGeom>
          </p:spPr>
          <p:txBody>
            <a:bodyPr wrap="none">
              <a:spAutoFit/>
            </a:bodyPr>
            <a:lstStyle/>
            <a:p>
              <a:pPr algn="ctr"/>
              <a:r>
                <a:rPr lang="en-US" altLang="ko-KR" sz="1600" b="1"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rPr>
                <a:t>Server sync</a:t>
              </a:r>
            </a:p>
          </p:txBody>
        </p:sp>
      </p:grpSp>
      <p:grpSp>
        <p:nvGrpSpPr>
          <p:cNvPr id="58" name="그룹 57">
            <a:extLst>
              <a:ext uri="{FF2B5EF4-FFF2-40B4-BE49-F238E27FC236}">
                <a16:creationId xmlns:a16="http://schemas.microsoft.com/office/drawing/2014/main" id="{FBFF6F1C-DC2A-21A4-3F57-8084DED4A966}"/>
              </a:ext>
            </a:extLst>
          </p:cNvPr>
          <p:cNvGrpSpPr/>
          <p:nvPr/>
        </p:nvGrpSpPr>
        <p:grpSpPr>
          <a:xfrm>
            <a:off x="13740373" y="9973656"/>
            <a:ext cx="1890841" cy="1419534"/>
            <a:chOff x="3925621" y="2452056"/>
            <a:chExt cx="1926570" cy="1446357"/>
          </a:xfrm>
        </p:grpSpPr>
        <p:grpSp>
          <p:nvGrpSpPr>
            <p:cNvPr id="59" name="그룹 58">
              <a:extLst>
                <a:ext uri="{FF2B5EF4-FFF2-40B4-BE49-F238E27FC236}">
                  <a16:creationId xmlns:a16="http://schemas.microsoft.com/office/drawing/2014/main" id="{3E9FDC9E-926D-9314-32B2-4AAC4DB7B0E6}"/>
                </a:ext>
              </a:extLst>
            </p:cNvPr>
            <p:cNvGrpSpPr/>
            <p:nvPr/>
          </p:nvGrpSpPr>
          <p:grpSpPr>
            <a:xfrm>
              <a:off x="3925621" y="2452056"/>
              <a:ext cx="1926570" cy="1446357"/>
              <a:chOff x="2369697" y="2033672"/>
              <a:chExt cx="2289627" cy="1718919"/>
            </a:xfrm>
            <a:solidFill>
              <a:schemeClr val="accent6">
                <a:alpha val="70000"/>
              </a:schemeClr>
            </a:solidFill>
          </p:grpSpPr>
          <p:sp>
            <p:nvSpPr>
              <p:cNvPr id="61" name="모서리가 둥근 직사각형 100">
                <a:extLst>
                  <a:ext uri="{FF2B5EF4-FFF2-40B4-BE49-F238E27FC236}">
                    <a16:creationId xmlns:a16="http://schemas.microsoft.com/office/drawing/2014/main" id="{69053553-CEA7-EC42-1196-A9667E578128}"/>
                  </a:ext>
                </a:extLst>
              </p:cNvPr>
              <p:cNvSpPr/>
              <p:nvPr/>
            </p:nvSpPr>
            <p:spPr>
              <a:xfrm rot="16200000" flipH="1" flipV="1">
                <a:off x="3186038" y="2077701"/>
                <a:ext cx="504056" cy="2136737"/>
              </a:xfrm>
              <a:prstGeom prst="roundRect">
                <a:avLst>
                  <a:gd name="adj" fmla="val 50000"/>
                </a:avLst>
              </a:prstGeom>
              <a:solidFill>
                <a:srgbClr val="4BAC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600"/>
              </a:p>
            </p:txBody>
          </p:sp>
          <p:sp>
            <p:nvSpPr>
              <p:cNvPr id="62" name="모서리가 둥근 직사각형 101">
                <a:extLst>
                  <a:ext uri="{FF2B5EF4-FFF2-40B4-BE49-F238E27FC236}">
                    <a16:creationId xmlns:a16="http://schemas.microsoft.com/office/drawing/2014/main" id="{B2A72BEF-1AFA-DC89-351D-ED413AFDB14D}"/>
                  </a:ext>
                </a:extLst>
              </p:cNvPr>
              <p:cNvSpPr/>
              <p:nvPr/>
            </p:nvSpPr>
            <p:spPr>
              <a:xfrm rot="18900000">
                <a:off x="3651212" y="2033672"/>
                <a:ext cx="504056" cy="1512168"/>
              </a:xfrm>
              <a:prstGeom prst="roundRect">
                <a:avLst>
                  <a:gd name="adj" fmla="val 50000"/>
                </a:avLst>
              </a:prstGeom>
              <a:solidFill>
                <a:srgbClr val="4BAC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600"/>
              </a:p>
            </p:txBody>
          </p:sp>
          <p:sp>
            <p:nvSpPr>
              <p:cNvPr id="63" name="모서리가 둥근 직사각형 102">
                <a:extLst>
                  <a:ext uri="{FF2B5EF4-FFF2-40B4-BE49-F238E27FC236}">
                    <a16:creationId xmlns:a16="http://schemas.microsoft.com/office/drawing/2014/main" id="{FA5D8094-9C58-14A4-5704-B963F7910873}"/>
                  </a:ext>
                </a:extLst>
              </p:cNvPr>
              <p:cNvSpPr/>
              <p:nvPr/>
            </p:nvSpPr>
            <p:spPr>
              <a:xfrm rot="2700000" flipV="1">
                <a:off x="3651212" y="2744479"/>
                <a:ext cx="504056" cy="1512168"/>
              </a:xfrm>
              <a:prstGeom prst="roundRect">
                <a:avLst>
                  <a:gd name="adj" fmla="val 50000"/>
                </a:avLst>
              </a:prstGeom>
              <a:solidFill>
                <a:srgbClr val="4BACC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600"/>
              </a:p>
            </p:txBody>
          </p:sp>
        </p:grpSp>
        <p:sp>
          <p:nvSpPr>
            <p:cNvPr id="60" name="타원 59">
              <a:extLst>
                <a:ext uri="{FF2B5EF4-FFF2-40B4-BE49-F238E27FC236}">
                  <a16:creationId xmlns:a16="http://schemas.microsoft.com/office/drawing/2014/main" id="{08345878-5682-5742-3339-003C9BD9C202}"/>
                </a:ext>
              </a:extLst>
            </p:cNvPr>
            <p:cNvSpPr/>
            <p:nvPr/>
          </p:nvSpPr>
          <p:spPr>
            <a:xfrm>
              <a:off x="5358340" y="3221766"/>
              <a:ext cx="310206" cy="3102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a:ln>
                    <a:solidFill>
                      <a:schemeClr val="accent1">
                        <a:shade val="50000"/>
                        <a:alpha val="0"/>
                      </a:schemeClr>
                    </a:solidFill>
                  </a:ln>
                  <a:solidFill>
                    <a:schemeClr val="tx1">
                      <a:lumMod val="85000"/>
                      <a:lumOff val="15000"/>
                    </a:schemeClr>
                  </a:solidFill>
                  <a:latin typeface="나눔고딕" pitchFamily="50" charset="-127"/>
                  <a:ea typeface="나눔고딕" pitchFamily="50" charset="-127"/>
                </a:rPr>
                <a:t>2</a:t>
              </a:r>
              <a:endParaRPr lang="ko-KR" altLang="en-US" sz="1400" b="1">
                <a:ln>
                  <a:solidFill>
                    <a:schemeClr val="accent1">
                      <a:shade val="50000"/>
                      <a:alpha val="0"/>
                    </a:schemeClr>
                  </a:solidFill>
                </a:ln>
                <a:solidFill>
                  <a:schemeClr val="tx1">
                    <a:lumMod val="85000"/>
                    <a:lumOff val="15000"/>
                  </a:schemeClr>
                </a:solidFill>
                <a:latin typeface="나눔고딕" pitchFamily="50" charset="-127"/>
                <a:ea typeface="나눔고딕" pitchFamily="50" charset="-127"/>
              </a:endParaRPr>
            </a:p>
          </p:txBody>
        </p:sp>
      </p:grpSp>
      <p:grpSp>
        <p:nvGrpSpPr>
          <p:cNvPr id="67" name="그룹 66">
            <a:extLst>
              <a:ext uri="{FF2B5EF4-FFF2-40B4-BE49-F238E27FC236}">
                <a16:creationId xmlns:a16="http://schemas.microsoft.com/office/drawing/2014/main" id="{24E3B3D4-CBC5-3790-8328-D4DEF06BF745}"/>
              </a:ext>
            </a:extLst>
          </p:cNvPr>
          <p:cNvGrpSpPr/>
          <p:nvPr/>
        </p:nvGrpSpPr>
        <p:grpSpPr>
          <a:xfrm>
            <a:off x="16151769" y="9973656"/>
            <a:ext cx="1890841" cy="1419534"/>
            <a:chOff x="6315778" y="2452056"/>
            <a:chExt cx="1926570" cy="1446357"/>
          </a:xfrm>
        </p:grpSpPr>
        <p:grpSp>
          <p:nvGrpSpPr>
            <p:cNvPr id="68" name="그룹 67">
              <a:extLst>
                <a:ext uri="{FF2B5EF4-FFF2-40B4-BE49-F238E27FC236}">
                  <a16:creationId xmlns:a16="http://schemas.microsoft.com/office/drawing/2014/main" id="{2FB1D7AC-E682-77B2-D991-D02678066CB5}"/>
                </a:ext>
              </a:extLst>
            </p:cNvPr>
            <p:cNvGrpSpPr/>
            <p:nvPr/>
          </p:nvGrpSpPr>
          <p:grpSpPr>
            <a:xfrm>
              <a:off x="6315778" y="2452056"/>
              <a:ext cx="1926570" cy="1446357"/>
              <a:chOff x="2369697" y="2033672"/>
              <a:chExt cx="2289627" cy="1718919"/>
            </a:xfrm>
            <a:solidFill>
              <a:schemeClr val="accent3">
                <a:alpha val="70000"/>
              </a:schemeClr>
            </a:solidFill>
          </p:grpSpPr>
          <p:sp>
            <p:nvSpPr>
              <p:cNvPr id="70" name="모서리가 둥근 직사각형 74">
                <a:extLst>
                  <a:ext uri="{FF2B5EF4-FFF2-40B4-BE49-F238E27FC236}">
                    <a16:creationId xmlns:a16="http://schemas.microsoft.com/office/drawing/2014/main" id="{3C85A536-2DD4-017A-59A1-DB6829E530E1}"/>
                  </a:ext>
                </a:extLst>
              </p:cNvPr>
              <p:cNvSpPr/>
              <p:nvPr/>
            </p:nvSpPr>
            <p:spPr>
              <a:xfrm rot="16200000" flipH="1" flipV="1">
                <a:off x="3186038" y="2077701"/>
                <a:ext cx="504056" cy="2136737"/>
              </a:xfrm>
              <a:prstGeom prst="roundRect">
                <a:avLst>
                  <a:gd name="adj" fmla="val 50000"/>
                </a:avLst>
              </a:prstGeom>
              <a:solidFill>
                <a:srgbClr val="2159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600"/>
              </a:p>
            </p:txBody>
          </p:sp>
          <p:sp>
            <p:nvSpPr>
              <p:cNvPr id="71" name="모서리가 둥근 직사각형 77">
                <a:extLst>
                  <a:ext uri="{FF2B5EF4-FFF2-40B4-BE49-F238E27FC236}">
                    <a16:creationId xmlns:a16="http://schemas.microsoft.com/office/drawing/2014/main" id="{DE603689-89A2-83D1-E1BD-CEF669F8DD6B}"/>
                  </a:ext>
                </a:extLst>
              </p:cNvPr>
              <p:cNvSpPr/>
              <p:nvPr/>
            </p:nvSpPr>
            <p:spPr>
              <a:xfrm rot="18900000">
                <a:off x="3651212" y="2033672"/>
                <a:ext cx="504056" cy="1512168"/>
              </a:xfrm>
              <a:prstGeom prst="roundRect">
                <a:avLst>
                  <a:gd name="adj" fmla="val 50000"/>
                </a:avLst>
              </a:prstGeom>
              <a:solidFill>
                <a:srgbClr val="2159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600"/>
              </a:p>
            </p:txBody>
          </p:sp>
          <p:sp>
            <p:nvSpPr>
              <p:cNvPr id="72" name="모서리가 둥근 직사각형 78">
                <a:extLst>
                  <a:ext uri="{FF2B5EF4-FFF2-40B4-BE49-F238E27FC236}">
                    <a16:creationId xmlns:a16="http://schemas.microsoft.com/office/drawing/2014/main" id="{24BA2DD1-8BC3-CA4B-7848-89D47932262B}"/>
                  </a:ext>
                </a:extLst>
              </p:cNvPr>
              <p:cNvSpPr/>
              <p:nvPr/>
            </p:nvSpPr>
            <p:spPr>
              <a:xfrm rot="2700000" flipV="1">
                <a:off x="3651212" y="2744479"/>
                <a:ext cx="504056" cy="1512168"/>
              </a:xfrm>
              <a:prstGeom prst="roundRect">
                <a:avLst>
                  <a:gd name="adj" fmla="val 50000"/>
                </a:avLst>
              </a:prstGeom>
              <a:solidFill>
                <a:srgbClr val="2159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600"/>
              </a:p>
            </p:txBody>
          </p:sp>
        </p:grpSp>
        <p:sp>
          <p:nvSpPr>
            <p:cNvPr id="69" name="타원 68">
              <a:extLst>
                <a:ext uri="{FF2B5EF4-FFF2-40B4-BE49-F238E27FC236}">
                  <a16:creationId xmlns:a16="http://schemas.microsoft.com/office/drawing/2014/main" id="{DD7F33EA-EB31-808A-1443-A7C37E934535}"/>
                </a:ext>
              </a:extLst>
            </p:cNvPr>
            <p:cNvSpPr/>
            <p:nvPr/>
          </p:nvSpPr>
          <p:spPr>
            <a:xfrm>
              <a:off x="7747210" y="3221766"/>
              <a:ext cx="310206" cy="3102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a:ln>
                    <a:solidFill>
                      <a:schemeClr val="accent1">
                        <a:shade val="50000"/>
                        <a:alpha val="0"/>
                      </a:schemeClr>
                    </a:solidFill>
                  </a:ln>
                  <a:solidFill>
                    <a:schemeClr val="tx1">
                      <a:lumMod val="85000"/>
                      <a:lumOff val="15000"/>
                    </a:schemeClr>
                  </a:solidFill>
                  <a:latin typeface="나눔고딕" pitchFamily="50" charset="-127"/>
                  <a:ea typeface="나눔고딕" pitchFamily="50" charset="-127"/>
                </a:rPr>
                <a:t>3</a:t>
              </a:r>
              <a:endParaRPr lang="ko-KR" altLang="en-US" sz="1400" b="1">
                <a:ln>
                  <a:solidFill>
                    <a:schemeClr val="accent1">
                      <a:shade val="50000"/>
                      <a:alpha val="0"/>
                    </a:schemeClr>
                  </a:solidFill>
                </a:ln>
                <a:solidFill>
                  <a:schemeClr val="tx1">
                    <a:lumMod val="85000"/>
                    <a:lumOff val="15000"/>
                  </a:schemeClr>
                </a:solidFill>
                <a:latin typeface="나눔고딕" pitchFamily="50" charset="-127"/>
                <a:ea typeface="나눔고딕" pitchFamily="50" charset="-127"/>
              </a:endParaRPr>
            </a:p>
          </p:txBody>
        </p:sp>
      </p:grpSp>
      <p:grpSp>
        <p:nvGrpSpPr>
          <p:cNvPr id="76" name="그룹 75">
            <a:extLst>
              <a:ext uri="{FF2B5EF4-FFF2-40B4-BE49-F238E27FC236}">
                <a16:creationId xmlns:a16="http://schemas.microsoft.com/office/drawing/2014/main" id="{61CCE7AD-3BD0-A4A2-8608-859DDC51CD38}"/>
              </a:ext>
            </a:extLst>
          </p:cNvPr>
          <p:cNvGrpSpPr/>
          <p:nvPr/>
        </p:nvGrpSpPr>
        <p:grpSpPr>
          <a:xfrm>
            <a:off x="18563165" y="9973656"/>
            <a:ext cx="1890841" cy="1419534"/>
            <a:chOff x="8705934" y="2452056"/>
            <a:chExt cx="1926570" cy="1446357"/>
          </a:xfrm>
        </p:grpSpPr>
        <p:grpSp>
          <p:nvGrpSpPr>
            <p:cNvPr id="77" name="그룹 76">
              <a:extLst>
                <a:ext uri="{FF2B5EF4-FFF2-40B4-BE49-F238E27FC236}">
                  <a16:creationId xmlns:a16="http://schemas.microsoft.com/office/drawing/2014/main" id="{D6BD5565-06A7-7C9F-37D9-DB9B0B1F1CF4}"/>
                </a:ext>
              </a:extLst>
            </p:cNvPr>
            <p:cNvGrpSpPr/>
            <p:nvPr/>
          </p:nvGrpSpPr>
          <p:grpSpPr>
            <a:xfrm>
              <a:off x="8705934" y="2452056"/>
              <a:ext cx="1926570" cy="1446357"/>
              <a:chOff x="2369697" y="2033672"/>
              <a:chExt cx="2289627" cy="1718919"/>
            </a:xfrm>
            <a:solidFill>
              <a:schemeClr val="accent2">
                <a:alpha val="70000"/>
              </a:schemeClr>
            </a:solidFill>
          </p:grpSpPr>
          <p:sp>
            <p:nvSpPr>
              <p:cNvPr id="84" name="모서리가 둥근 직사각형 96">
                <a:extLst>
                  <a:ext uri="{FF2B5EF4-FFF2-40B4-BE49-F238E27FC236}">
                    <a16:creationId xmlns:a16="http://schemas.microsoft.com/office/drawing/2014/main" id="{4A3788D3-764D-E689-B8BF-A4444B813FDE}"/>
                  </a:ext>
                </a:extLst>
              </p:cNvPr>
              <p:cNvSpPr/>
              <p:nvPr/>
            </p:nvSpPr>
            <p:spPr>
              <a:xfrm rot="16200000" flipH="1" flipV="1">
                <a:off x="3186038" y="2077701"/>
                <a:ext cx="504056" cy="2136737"/>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600"/>
              </a:p>
            </p:txBody>
          </p:sp>
          <p:sp>
            <p:nvSpPr>
              <p:cNvPr id="87" name="모서리가 둥근 직사각형 97">
                <a:extLst>
                  <a:ext uri="{FF2B5EF4-FFF2-40B4-BE49-F238E27FC236}">
                    <a16:creationId xmlns:a16="http://schemas.microsoft.com/office/drawing/2014/main" id="{CF88D0A3-296D-E9B5-8F69-A9DC5A4BD3BC}"/>
                  </a:ext>
                </a:extLst>
              </p:cNvPr>
              <p:cNvSpPr/>
              <p:nvPr/>
            </p:nvSpPr>
            <p:spPr>
              <a:xfrm rot="18900000">
                <a:off x="3651212" y="2033672"/>
                <a:ext cx="504056" cy="1512168"/>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600"/>
              </a:p>
            </p:txBody>
          </p:sp>
          <p:sp>
            <p:nvSpPr>
              <p:cNvPr id="88" name="모서리가 둥근 직사각형 98">
                <a:extLst>
                  <a:ext uri="{FF2B5EF4-FFF2-40B4-BE49-F238E27FC236}">
                    <a16:creationId xmlns:a16="http://schemas.microsoft.com/office/drawing/2014/main" id="{D630901B-BFEE-AD92-E634-612B39AE96D8}"/>
                  </a:ext>
                </a:extLst>
              </p:cNvPr>
              <p:cNvSpPr/>
              <p:nvPr/>
            </p:nvSpPr>
            <p:spPr>
              <a:xfrm rot="2700000" flipV="1">
                <a:off x="3651212" y="2744479"/>
                <a:ext cx="504056" cy="1512168"/>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600"/>
              </a:p>
            </p:txBody>
          </p:sp>
        </p:grpSp>
        <p:sp>
          <p:nvSpPr>
            <p:cNvPr id="78" name="타원 77">
              <a:extLst>
                <a:ext uri="{FF2B5EF4-FFF2-40B4-BE49-F238E27FC236}">
                  <a16:creationId xmlns:a16="http://schemas.microsoft.com/office/drawing/2014/main" id="{1BAA3809-8982-2E8E-C2C0-214EA91C68A7}"/>
                </a:ext>
              </a:extLst>
            </p:cNvPr>
            <p:cNvSpPr/>
            <p:nvPr/>
          </p:nvSpPr>
          <p:spPr>
            <a:xfrm>
              <a:off x="10139890" y="3221766"/>
              <a:ext cx="310206" cy="3102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400" b="1">
                  <a:ln>
                    <a:solidFill>
                      <a:schemeClr val="accent1">
                        <a:shade val="50000"/>
                        <a:alpha val="0"/>
                      </a:schemeClr>
                    </a:solidFill>
                  </a:ln>
                  <a:solidFill>
                    <a:schemeClr val="tx1">
                      <a:lumMod val="85000"/>
                      <a:lumOff val="15000"/>
                    </a:schemeClr>
                  </a:solidFill>
                  <a:latin typeface="나눔고딕" pitchFamily="50" charset="-127"/>
                  <a:ea typeface="나눔고딕" pitchFamily="50" charset="-127"/>
                </a:rPr>
                <a:t>4</a:t>
              </a:r>
              <a:endParaRPr lang="ko-KR" altLang="en-US" sz="1400" b="1">
                <a:ln>
                  <a:solidFill>
                    <a:schemeClr val="accent1">
                      <a:shade val="50000"/>
                      <a:alpha val="0"/>
                    </a:schemeClr>
                  </a:solidFill>
                </a:ln>
                <a:solidFill>
                  <a:schemeClr val="tx1">
                    <a:lumMod val="85000"/>
                    <a:lumOff val="15000"/>
                  </a:schemeClr>
                </a:solidFill>
                <a:latin typeface="나눔고딕" pitchFamily="50" charset="-127"/>
                <a:ea typeface="나눔고딕" pitchFamily="50" charset="-127"/>
              </a:endParaRPr>
            </a:p>
          </p:txBody>
        </p:sp>
      </p:grpSp>
      <p:sp>
        <p:nvSpPr>
          <p:cNvPr id="33" name="직사각형 32">
            <a:extLst>
              <a:ext uri="{FF2B5EF4-FFF2-40B4-BE49-F238E27FC236}">
                <a16:creationId xmlns:a16="http://schemas.microsoft.com/office/drawing/2014/main" id="{F80487AA-3D56-F3E3-BBEF-B9B83139439E}"/>
              </a:ext>
            </a:extLst>
          </p:cNvPr>
          <p:cNvSpPr/>
          <p:nvPr/>
        </p:nvSpPr>
        <p:spPr>
          <a:xfrm>
            <a:off x="1419723" y="462694"/>
            <a:ext cx="18864565" cy="963989"/>
          </a:xfrm>
          <a:prstGeom prst="rect">
            <a:avLst/>
          </a:prstGeom>
        </p:spPr>
        <p:txBody>
          <a:bodyPr wrap="square" lIns="70747" tIns="35373" rIns="70747" bIns="35373">
            <a:spAutoFit/>
          </a:bodyPr>
          <a:lstStyle/>
          <a:p>
            <a:pPr algn="ctr"/>
            <a:r>
              <a:rPr lang="en-US" altLang="ko-KR" sz="5800" b="1" cap="all" dirty="0">
                <a:ln>
                  <a:solidFill>
                    <a:schemeClr val="bg1">
                      <a:alpha val="0"/>
                    </a:schemeClr>
                  </a:solidFill>
                </a:ln>
                <a:solidFill>
                  <a:schemeClr val="bg1"/>
                </a:solidFill>
                <a:latin typeface="나눔고딕" pitchFamily="2" charset="-127"/>
                <a:ea typeface="나눔고딕 ExtraBold" pitchFamily="50" charset="-127"/>
                <a:cs typeface="Arial" panose="020B0604020202020204" pitchFamily="34" charset="0"/>
              </a:rPr>
              <a:t>AI</a:t>
            </a:r>
            <a:r>
              <a:rPr lang="ko-KR" altLang="en-US" sz="5800" b="1" cap="all" dirty="0">
                <a:ln>
                  <a:solidFill>
                    <a:schemeClr val="bg1">
                      <a:alpha val="0"/>
                    </a:schemeClr>
                  </a:solidFill>
                </a:ln>
                <a:solidFill>
                  <a:schemeClr val="bg1"/>
                </a:solidFill>
                <a:latin typeface="나눔고딕" pitchFamily="2" charset="-127"/>
                <a:ea typeface="나눔고딕 ExtraBold" pitchFamily="50" charset="-127"/>
                <a:cs typeface="Arial" panose="020B0604020202020204" pitchFamily="34" charset="0"/>
              </a:rPr>
              <a:t> 기반 집필 및 협업 지원 </a:t>
            </a:r>
            <a:r>
              <a:rPr lang="en-US" altLang="ko-KR" sz="5800" b="1" cap="all" dirty="0">
                <a:ln>
                  <a:solidFill>
                    <a:schemeClr val="bg1">
                      <a:alpha val="0"/>
                    </a:schemeClr>
                  </a:solidFill>
                </a:ln>
                <a:solidFill>
                  <a:schemeClr val="bg1"/>
                </a:solidFill>
                <a:latin typeface="나눔고딕" pitchFamily="2" charset="-127"/>
                <a:ea typeface="나눔고딕 ExtraBold" pitchFamily="50" charset="-127"/>
                <a:cs typeface="Arial" panose="020B0604020202020204" pitchFamily="34" charset="0"/>
              </a:rPr>
              <a:t>E-Book </a:t>
            </a:r>
            <a:r>
              <a:rPr lang="ko-KR" altLang="en-US" sz="5800" b="1" cap="all" dirty="0">
                <a:ln>
                  <a:solidFill>
                    <a:schemeClr val="bg1">
                      <a:alpha val="0"/>
                    </a:schemeClr>
                  </a:solidFill>
                </a:ln>
                <a:solidFill>
                  <a:schemeClr val="bg1"/>
                </a:solidFill>
                <a:latin typeface="나눔고딕" pitchFamily="2" charset="-127"/>
                <a:ea typeface="나눔고딕 ExtraBold" pitchFamily="50" charset="-127"/>
                <a:cs typeface="Arial" panose="020B0604020202020204" pitchFamily="34" charset="0"/>
              </a:rPr>
              <a:t>에디터 </a:t>
            </a:r>
            <a:r>
              <a:rPr lang="en-US" altLang="ko-KR" sz="5800" b="1" cap="all" dirty="0" err="1">
                <a:ln>
                  <a:solidFill>
                    <a:schemeClr val="bg1">
                      <a:alpha val="0"/>
                    </a:schemeClr>
                  </a:solidFill>
                </a:ln>
                <a:solidFill>
                  <a:schemeClr val="bg1"/>
                </a:solidFill>
                <a:latin typeface="나눔고딕" pitchFamily="2" charset="-127"/>
                <a:ea typeface="나눔고딕 ExtraBold" pitchFamily="50" charset="-127"/>
                <a:cs typeface="Arial" panose="020B0604020202020204" pitchFamily="34" charset="0"/>
              </a:rPr>
              <a:t>Lunavel</a:t>
            </a:r>
            <a:endParaRPr lang="ko-KR" altLang="en-US" sz="5800" b="1" cap="all" dirty="0">
              <a:ln>
                <a:solidFill>
                  <a:schemeClr val="bg1">
                    <a:alpha val="0"/>
                  </a:schemeClr>
                </a:solidFill>
              </a:ln>
              <a:solidFill>
                <a:schemeClr val="bg1"/>
              </a:solidFill>
              <a:latin typeface="나눔고딕" pitchFamily="2" charset="-127"/>
              <a:ea typeface="나눔고딕 ExtraBold" pitchFamily="50" charset="-127"/>
              <a:cs typeface="Arial" panose="020B0604020202020204" pitchFamily="34" charset="0"/>
            </a:endParaRPr>
          </a:p>
        </p:txBody>
      </p:sp>
      <p:sp>
        <p:nvSpPr>
          <p:cNvPr id="34" name="직사각형 33">
            <a:extLst>
              <a:ext uri="{FF2B5EF4-FFF2-40B4-BE49-F238E27FC236}">
                <a16:creationId xmlns:a16="http://schemas.microsoft.com/office/drawing/2014/main" id="{0397CBC2-8135-A151-FABE-E1AE8C6B08D3}"/>
              </a:ext>
            </a:extLst>
          </p:cNvPr>
          <p:cNvSpPr/>
          <p:nvPr/>
        </p:nvSpPr>
        <p:spPr>
          <a:xfrm>
            <a:off x="2670536" y="3036968"/>
            <a:ext cx="16042552" cy="604660"/>
          </a:xfrm>
          <a:prstGeom prst="rect">
            <a:avLst/>
          </a:prstGeom>
        </p:spPr>
        <p:txBody>
          <a:bodyPr wrap="square" lIns="70747" tIns="35373" rIns="70747" bIns="35373">
            <a:spAutoFit/>
          </a:bodyPr>
          <a:lstStyle/>
          <a:p>
            <a:pPr algn="ctr">
              <a:lnSpc>
                <a:spcPct val="120000"/>
              </a:lnSpc>
            </a:pPr>
            <a:r>
              <a:rPr lang="ko-KR" altLang="en-US"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김동환</a:t>
            </a:r>
            <a:r>
              <a:rPr lang="en-US" altLang="ko-KR"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이성민</a:t>
            </a:r>
            <a:r>
              <a:rPr lang="en-US" altLang="ko-KR"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김민준</a:t>
            </a:r>
            <a:r>
              <a:rPr lang="en-US" altLang="ko-KR"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3200" b="1" dirty="0" err="1">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황서진</a:t>
            </a:r>
            <a:endParaRPr lang="ko-KR" altLang="en-US"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endParaRPr>
          </a:p>
        </p:txBody>
      </p:sp>
      <p:pic>
        <p:nvPicPr>
          <p:cNvPr id="4" name="그래픽 3">
            <a:extLst>
              <a:ext uri="{FF2B5EF4-FFF2-40B4-BE49-F238E27FC236}">
                <a16:creationId xmlns:a16="http://schemas.microsoft.com/office/drawing/2014/main" id="{DEC7F2C7-DF14-4589-80F0-0BF26CE2D53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149178" y="28632147"/>
            <a:ext cx="5718585" cy="957792"/>
          </a:xfrm>
          <a:prstGeom prst="rect">
            <a:avLst/>
          </a:prstGeom>
        </p:spPr>
      </p:pic>
      <p:sp>
        <p:nvSpPr>
          <p:cNvPr id="110" name="직사각형 109">
            <a:extLst>
              <a:ext uri="{FF2B5EF4-FFF2-40B4-BE49-F238E27FC236}">
                <a16:creationId xmlns:a16="http://schemas.microsoft.com/office/drawing/2014/main" id="{A67A920C-7F84-43D6-98A3-13D7D447A0B8}"/>
              </a:ext>
            </a:extLst>
          </p:cNvPr>
          <p:cNvSpPr/>
          <p:nvPr/>
        </p:nvSpPr>
        <p:spPr>
          <a:xfrm>
            <a:off x="2530060" y="2097585"/>
            <a:ext cx="16042552" cy="1195591"/>
          </a:xfrm>
          <a:prstGeom prst="rect">
            <a:avLst/>
          </a:prstGeom>
        </p:spPr>
        <p:txBody>
          <a:bodyPr wrap="square" lIns="70747" tIns="35373" rIns="70747" bIns="35373">
            <a:spAutoFit/>
          </a:bodyPr>
          <a:lstStyle/>
          <a:p>
            <a:pPr algn="ctr">
              <a:lnSpc>
                <a:spcPct val="120000"/>
              </a:lnSpc>
            </a:pPr>
            <a:r>
              <a:rPr lang="ko-KR" altLang="en-US"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동양미래대학교 </a:t>
            </a:r>
            <a:r>
              <a:rPr lang="ko-KR" altLang="en-US" sz="3200" b="1" dirty="0" err="1">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컴퓨터소프트웨어공학과</a:t>
            </a:r>
            <a:r>
              <a:rPr lang="ko-KR" altLang="en-US"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 </a:t>
            </a:r>
            <a:r>
              <a:rPr lang="en-US" altLang="ko-KR"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YD</a:t>
            </a:r>
            <a:r>
              <a:rPr lang="ko-KR" altLang="en-US"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반 니트로글리세린팀</a:t>
            </a:r>
          </a:p>
          <a:p>
            <a:pPr algn="ctr">
              <a:lnSpc>
                <a:spcPct val="120000"/>
              </a:lnSpc>
            </a:pPr>
            <a:endParaRPr lang="en-US" altLang="ko-KR"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endParaRPr>
          </a:p>
        </p:txBody>
      </p:sp>
      <p:pic>
        <p:nvPicPr>
          <p:cNvPr id="10" name="그림 9">
            <a:extLst>
              <a:ext uri="{FF2B5EF4-FFF2-40B4-BE49-F238E27FC236}">
                <a16:creationId xmlns:a16="http://schemas.microsoft.com/office/drawing/2014/main" id="{5651C02C-D83F-4D45-A3F4-D83E81399EE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209177" y="25526447"/>
            <a:ext cx="4063492" cy="4063492"/>
          </a:xfrm>
          <a:prstGeom prst="rect">
            <a:avLst/>
          </a:prstGeom>
          <a:noFill/>
        </p:spPr>
      </p:pic>
      <p:sp>
        <p:nvSpPr>
          <p:cNvPr id="117" name="직사각형 116">
            <a:extLst>
              <a:ext uri="{FF2B5EF4-FFF2-40B4-BE49-F238E27FC236}">
                <a16:creationId xmlns:a16="http://schemas.microsoft.com/office/drawing/2014/main" id="{C53AE3C2-B36F-4A97-8460-EF1DAE57052A}"/>
              </a:ext>
            </a:extLst>
          </p:cNvPr>
          <p:cNvSpPr/>
          <p:nvPr/>
        </p:nvSpPr>
        <p:spPr>
          <a:xfrm>
            <a:off x="2726519" y="3662924"/>
            <a:ext cx="16042552" cy="604660"/>
          </a:xfrm>
          <a:prstGeom prst="rect">
            <a:avLst/>
          </a:prstGeom>
        </p:spPr>
        <p:txBody>
          <a:bodyPr wrap="square" lIns="70747" tIns="35373" rIns="70747" bIns="35373">
            <a:spAutoFit/>
          </a:bodyPr>
          <a:lstStyle/>
          <a:p>
            <a:pPr algn="ctr">
              <a:lnSpc>
                <a:spcPct val="120000"/>
              </a:lnSpc>
            </a:pPr>
            <a:r>
              <a:rPr lang="ko-KR" altLang="en-US"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지도교수 </a:t>
            </a:r>
            <a:r>
              <a:rPr lang="en-US" altLang="ko-KR"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 </a:t>
            </a:r>
            <a:r>
              <a:rPr lang="ko-KR" altLang="en-US" sz="3200" b="1" dirty="0">
                <a:ln>
                  <a:solidFill>
                    <a:schemeClr val="bg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이희진</a:t>
            </a:r>
          </a:p>
        </p:txBody>
      </p:sp>
      <p:sp>
        <p:nvSpPr>
          <p:cNvPr id="6" name="직사각형 5">
            <a:extLst>
              <a:ext uri="{FF2B5EF4-FFF2-40B4-BE49-F238E27FC236}">
                <a16:creationId xmlns:a16="http://schemas.microsoft.com/office/drawing/2014/main" id="{A99E1D71-40EB-4AD6-DF3C-7BBF3EA6504E}"/>
              </a:ext>
            </a:extLst>
          </p:cNvPr>
          <p:cNvSpPr/>
          <p:nvPr/>
        </p:nvSpPr>
        <p:spPr>
          <a:xfrm>
            <a:off x="11013853" y="24674765"/>
            <a:ext cx="9532658" cy="1172803"/>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000" spc="-40" dirty="0"/>
          </a:p>
        </p:txBody>
      </p:sp>
      <p:sp>
        <p:nvSpPr>
          <p:cNvPr id="7" name="모서리가 둥근 직사각형 81">
            <a:extLst>
              <a:ext uri="{FF2B5EF4-FFF2-40B4-BE49-F238E27FC236}">
                <a16:creationId xmlns:a16="http://schemas.microsoft.com/office/drawing/2014/main" id="{2FAB1D04-552E-536F-989F-8883B146BFC8}"/>
              </a:ext>
            </a:extLst>
          </p:cNvPr>
          <p:cNvSpPr/>
          <p:nvPr/>
        </p:nvSpPr>
        <p:spPr>
          <a:xfrm>
            <a:off x="11155878" y="24973707"/>
            <a:ext cx="591403" cy="574918"/>
          </a:xfrm>
          <a:prstGeom prst="roundRect">
            <a:avLst>
              <a:gd name="adj" fmla="val 16055"/>
            </a:avLst>
          </a:prstGeom>
          <a:solidFill>
            <a:schemeClr val="accent5"/>
          </a:solidFill>
          <a:ln w="28575">
            <a:noFill/>
          </a:ln>
          <a:effectLst/>
          <a:scene3d>
            <a:camera prst="orthographicFront"/>
            <a:lightRig rig="threePt" dir="t"/>
          </a:scene3d>
          <a:sp3d prstMaterial="matte"/>
        </p:spPr>
        <p:txBody>
          <a:bodyPr vert="horz" wrap="square" lIns="60810" tIns="30405" rIns="60810" bIns="30405" numCol="1" anchor="ctr" anchorCtr="0" compatLnSpc="1">
            <a:prstTxWarp prst="textNoShape">
              <a:avLst/>
            </a:prstTxWarp>
          </a:bodyPr>
          <a:lstStyle/>
          <a:p>
            <a:pPr algn="ctr" defTabSz="576690" fontAlgn="base">
              <a:spcBef>
                <a:spcPct val="0"/>
              </a:spcBef>
              <a:spcAft>
                <a:spcPct val="0"/>
              </a:spcAft>
            </a:pPr>
            <a:r>
              <a:rPr lang="en-US" altLang="ko-KR" sz="2000" b="1" spc="-40" dirty="0">
                <a:ln>
                  <a:solidFill>
                    <a:schemeClr val="bg1">
                      <a:lumMod val="50000"/>
                      <a:alpha val="0"/>
                    </a:schemeClr>
                  </a:solidFill>
                </a:ln>
                <a:solidFill>
                  <a:schemeClr val="bg1"/>
                </a:solidFill>
                <a:latin typeface="나눔고딕" pitchFamily="50" charset="-127"/>
                <a:ea typeface="나눔고딕" pitchFamily="50" charset="-127"/>
                <a:cs typeface="Arial" pitchFamily="34" charset="0"/>
              </a:rPr>
              <a:t>04</a:t>
            </a:r>
            <a:endParaRPr lang="ko-KR" altLang="en-US" sz="2000" b="1" spc="-40" dirty="0">
              <a:ln>
                <a:solidFill>
                  <a:schemeClr val="bg1">
                    <a:lumMod val="50000"/>
                    <a:alpha val="0"/>
                  </a:schemeClr>
                </a:solidFill>
              </a:ln>
              <a:solidFill>
                <a:schemeClr val="bg1"/>
              </a:solidFill>
              <a:latin typeface="나눔고딕" pitchFamily="50" charset="-127"/>
              <a:ea typeface="나눔고딕" pitchFamily="50" charset="-127"/>
              <a:cs typeface="Arial" pitchFamily="34" charset="0"/>
            </a:endParaRPr>
          </a:p>
        </p:txBody>
      </p:sp>
      <p:sp>
        <p:nvSpPr>
          <p:cNvPr id="8" name="직사각형 7">
            <a:extLst>
              <a:ext uri="{FF2B5EF4-FFF2-40B4-BE49-F238E27FC236}">
                <a16:creationId xmlns:a16="http://schemas.microsoft.com/office/drawing/2014/main" id="{5863DCF1-7297-8E85-7FBC-18F0239E5E97}"/>
              </a:ext>
            </a:extLst>
          </p:cNvPr>
          <p:cNvSpPr/>
          <p:nvPr/>
        </p:nvSpPr>
        <p:spPr>
          <a:xfrm>
            <a:off x="11865908" y="24874038"/>
            <a:ext cx="8425080" cy="775250"/>
          </a:xfrm>
          <a:prstGeom prst="rect">
            <a:avLst/>
          </a:prstGeom>
          <a:solidFill>
            <a:schemeClr val="accent5">
              <a:lumMod val="50000"/>
            </a:schemeClr>
          </a:solidFill>
        </p:spPr>
        <p:txBody>
          <a:bodyPr wrap="square" lIns="66712" tIns="33356" rIns="66712" bIns="33356">
            <a:spAutoFit/>
          </a:bodyPr>
          <a:lstStyle/>
          <a:p>
            <a:pPr marL="0" lvl="1" latinLnBrk="0">
              <a:lnSpc>
                <a:spcPct val="120000"/>
              </a:lnSpc>
            </a:pPr>
            <a:r>
              <a:rPr lang="en-US" altLang="ko-KR" sz="2000" b="1" spc="-40" dirty="0">
                <a:ln>
                  <a:solidFill>
                    <a:schemeClr val="accent1">
                      <a:alpha val="0"/>
                    </a:schemeClr>
                  </a:solidFill>
                </a:ln>
                <a:solidFill>
                  <a:schemeClr val="bg1"/>
                </a:solidFill>
                <a:latin typeface="나눔고딕" panose="020D0604000000000000" pitchFamily="50" charset="-127"/>
                <a:ea typeface="나눔고딕" panose="020D0604000000000000" pitchFamily="50" charset="-127"/>
                <a:cs typeface="Arial" panose="020B0604020202020204" pitchFamily="34" charset="0"/>
              </a:rPr>
              <a:t>AI-driven match management – Applying AI to optimize matchmaking balance, player skill grouping, and automated server load distribution.</a:t>
            </a:r>
          </a:p>
        </p:txBody>
      </p:sp>
      <p:pic>
        <p:nvPicPr>
          <p:cNvPr id="32" name="그래픽 31" descr="톱니바퀴 단색으로 채워진">
            <a:extLst>
              <a:ext uri="{FF2B5EF4-FFF2-40B4-BE49-F238E27FC236}">
                <a16:creationId xmlns:a16="http://schemas.microsoft.com/office/drawing/2014/main" id="{D4BB0510-A2E4-2C3A-5793-819A7F9FEB2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711315" y="21651854"/>
            <a:ext cx="1334624" cy="1334624"/>
          </a:xfrm>
          <a:prstGeom prst="rect">
            <a:avLst/>
          </a:prstGeom>
        </p:spPr>
      </p:pic>
      <p:pic>
        <p:nvPicPr>
          <p:cNvPr id="37" name="그래픽 36" descr="퍼즐 윤곽선">
            <a:extLst>
              <a:ext uri="{FF2B5EF4-FFF2-40B4-BE49-F238E27FC236}">
                <a16:creationId xmlns:a16="http://schemas.microsoft.com/office/drawing/2014/main" id="{3A106427-1057-F655-7AE3-08A1FE15CC3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601884" y="21739506"/>
            <a:ext cx="1102956" cy="1102956"/>
          </a:xfrm>
          <a:prstGeom prst="rect">
            <a:avLst/>
          </a:prstGeom>
        </p:spPr>
      </p:pic>
      <p:pic>
        <p:nvPicPr>
          <p:cNvPr id="39" name="그래픽 38" descr="클라우드 컴퓨팅 윤곽선">
            <a:extLst>
              <a:ext uri="{FF2B5EF4-FFF2-40B4-BE49-F238E27FC236}">
                <a16:creationId xmlns:a16="http://schemas.microsoft.com/office/drawing/2014/main" id="{58E2EAB2-ED7D-E715-A735-210030E19D7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026061" y="21618326"/>
            <a:ext cx="1368152" cy="1368152"/>
          </a:xfrm>
          <a:prstGeom prst="rect">
            <a:avLst/>
          </a:prstGeom>
        </p:spPr>
      </p:pic>
      <p:pic>
        <p:nvPicPr>
          <p:cNvPr id="41" name="그림 40" descr="텍스트, 무기, 그래픽 디자인, 포스터이(가) 표시된 사진&#10;&#10;AI 생성 콘텐츠는 정확하지 않을 수 있습니다.">
            <a:extLst>
              <a:ext uri="{FF2B5EF4-FFF2-40B4-BE49-F238E27FC236}">
                <a16:creationId xmlns:a16="http://schemas.microsoft.com/office/drawing/2014/main" id="{AE9260D6-CE2F-FA83-836E-4BCCA431702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330934" y="23835917"/>
            <a:ext cx="6050905" cy="6050905"/>
          </a:xfrm>
          <a:prstGeom prst="rect">
            <a:avLst/>
          </a:prstGeom>
        </p:spPr>
      </p:pic>
    </p:spTree>
    <p:extLst>
      <p:ext uri="{BB962C8B-B14F-4D97-AF65-F5344CB8AC3E}">
        <p14:creationId xmlns:p14="http://schemas.microsoft.com/office/powerpoint/2010/main" val="3631582301"/>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894</TotalTime>
  <Words>775</Words>
  <Application>Microsoft Office PowerPoint</Application>
  <PresentationFormat>사용자 지정</PresentationFormat>
  <Paragraphs>89</Paragraphs>
  <Slides>1</Slides>
  <Notes>1</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vt:i4>
      </vt:variant>
    </vt:vector>
  </HeadingPairs>
  <TitlesOfParts>
    <vt:vector size="6" baseType="lpstr">
      <vt:lpstr>나눔고딕</vt:lpstr>
      <vt:lpstr>나눔고딕 ExtraBold</vt:lpstr>
      <vt:lpstr>맑은 고딕</vt:lpstr>
      <vt:lpstr>Arial</vt:lpstr>
      <vt:lpstr>Office 테마</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user</dc:creator>
  <cp:lastModifiedBy>Spot Kim</cp:lastModifiedBy>
  <cp:revision>115</cp:revision>
  <dcterms:created xsi:type="dcterms:W3CDTF">2018-10-17T01:18:09Z</dcterms:created>
  <dcterms:modified xsi:type="dcterms:W3CDTF">2025-10-27T06:30:58Z</dcterms:modified>
</cp:coreProperties>
</file>